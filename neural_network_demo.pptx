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cc3aabe-e596-7a52-2a30-145168cbf9d4}">
          <p14:sldIdLst>
            <p14:sldId id="256"/>
          </p14:sldIdLst>
        </p14:section>
        <p14:section name="How it works" id="{7b780f13-e2d6-d2fc-d02e-1f38e4076aca}">
          <p14:sldIdLst>
            <p14:sldId id="257"/>
            <p14:sldId id="258"/>
          </p14:sldIdLst>
        </p14:section>
        <p14:section name="Using the demo" id="{bf3e8817-7ef7-c607-38ad-42e00026eb15}">
          <p14:sldIdLst>
            <p14:sldId id="259"/>
            <p14:sldId id="260"/>
            <p14:sldId id="261"/>
            <p14:sldId id="262"/>
          </p14:sldIdLst>
        </p14:section>
        <p14:section name="Wrap-up" id="{1a82c7c0-3ae5-815b-a549-a9dd906a3f45}">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look at a tiny neural network that I built from scratch. It is an educational demo: it shows how a network learns, step by step, using just four toy examples. The picture on the right is a simple network: inputs on the left, hidden neurons in the middle, and one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classification just means: take two numbers in, and decide between two labels, Class 0 or Class 1. Here are our four training examples. Please note these labels are just sample labels made up for the demo. They do not stand for anything in the real world. The point is to watch the learning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network is very small: two input numbers go into two hidden neurons, which feed one output neuron. Every connection has a weight, which is just a number. Training means nudging those weights so predictions get closer to the correct labels. At the end, a function called sigmoid squeezes the output into a value between 0 and 1, which we can read as the chance of Class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epoch is one full pass through all four training examples. Loss is a score for how wrong the predictions are: lower is better. The demo draws a live loss chart while it trains. If the line slopes downward, the network is making smaller mistakes as it learns. The chart on the slide is only a sketch of that shape, not real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you type two numbers and the network predicts Class 0 or Class 1. It also shows the probability of Class 1. If that probability is above 50 percent, the model picks Class 1; below 50 percent, it picks Class 0. Because the network starts with random weights, two training runs can end up with different answers. That is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draws two pictures. The decision boundary chart colors the background by the class the model would predict at each spot. The four sample points are plotted on top, and your own input is the outlined point. The 3D surface shows the probability of Class 1 as height and color; you can drag it to rotate or use the arrow keys. The pictures here are illustrations of the idea, not real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change four kinds of settings. Learning rate is how big each weight change is. Epochs is how many passes to train. Batch size is how many samples are used for each update. SGD, Momentum and Adam are different recipes for updating weights. Try changing one setting at a time and watch how the loss chart and the predictions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project shows the basic process of training a small neural network for binary classification. Remember its limits: only four toy examples, so it is for learning and visualization, not for dependable real-world predictions. The key idea to take away: a neural network learns patterns from labeled examples by adjusting its weights to reduce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SLID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754880" cy="210312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548640" y="3383280"/>
            <a:ext cx="4572000" cy="82296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bg2"/>
                </a:solidFill>
              </a:rPr>
              <a:t>Neural Network from Scratch · Educational demo</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754880" cy="2103120"/>
          </a:xfrm>
          <a:prstGeom prst="rect">
            <a:avLst/>
          </a:prstGeom>
          <a:noFill/>
          <a:ln/>
        </p:spPr>
        <p:txBody>
          <a:bodyPr wrap="square" lIns="0" tIns="0" rIns="0" bIns="0" rtlCol="0" anchor="t"/>
          <a:lstStyle/>
          <a:p>
            <a:pPr algn="l" indent="0" marL="0">
              <a:buNone/>
            </a:pPr>
            <a:r>
              <a:rPr lang="en-US" sz="4200" b="1" dirty="0">
                <a:solidFill>
                  <a:schemeClr val="bg1"/>
                </a:solidFill>
              </a:rPr>
              <a:t>How a Neural Network Learns to Classify</a:t>
            </a:r>
            <a:endParaRPr lang="en-US" sz="4200" dirty="0"/>
          </a:p>
        </p:txBody>
      </p:sp>
      <p:sp>
        <p:nvSpPr>
          <p:cNvPr id="3" name="Text 0"/>
          <p:cNvSpPr/>
          <p:nvPr>
            <p:ph idx="101" type="body" hasCustomPrompt="1"/>
          </p:nvPr>
        </p:nvSpPr>
        <p:spPr>
          <a:xfrm>
            <a:off x="548640" y="3383280"/>
            <a:ext cx="4572000" cy="822960"/>
          </a:xfrm>
          <a:prstGeom prst="rect">
            <a:avLst/>
          </a:prstGeom>
          <a:noFill/>
          <a:ln/>
        </p:spPr>
        <p:txBody>
          <a:bodyPr wrap="square" lIns="0" tIns="0" rIns="0" bIns="0" rtlCol="0" anchor="t"/>
          <a:lstStyle/>
          <a:p>
            <a:pPr algn="l" indent="0" marL="0">
              <a:buNone/>
            </a:pPr>
            <a:r>
              <a:rPr lang="en-US" sz="1800" dirty="0">
                <a:solidFill>
                  <a:schemeClr val="accent1"/>
                </a:solidFill>
              </a:rPr>
              <a:t>An interactive neural network demo built from scratch</a:t>
            </a:r>
            <a:endParaRPr lang="en-US" sz="1800" dirty="0"/>
          </a:p>
        </p:txBody>
      </p:sp>
      <p:sp>
        <p:nvSpPr>
          <p:cNvPr id="4" name="Tag chip"/>
          <p:cNvSpPr/>
          <p:nvPr/>
        </p:nvSpPr>
        <p:spPr>
          <a:xfrm>
            <a:off x="548640" y="685800"/>
            <a:ext cx="2103120" cy="310896"/>
          </a:xfrm>
          <a:prstGeom prst="roundRect">
            <a:avLst>
              <a:gd name="adj" fmla="val 50000"/>
            </a:avLst>
          </a:prstGeom>
          <a:solidFill>
            <a:schemeClr val="tx2"/>
          </a:solidFill>
          <a:ln w="12700">
            <a:solidFill>
              <a:schemeClr val="accent1"/>
            </a:solidFill>
            <a:prstDash val="solid"/>
          </a:ln>
          <a:effectLst>
            <a:outerShdw sx="100000" sy="100000" kx="0" ky="0" algn="bl" rotWithShape="0" blurRad="177800" dist="50800" dir="16200000">
              <a:srgbClr val="22D3EE">
                <a:alpha val="45000"/>
              </a:srgbClr>
            </a:outerShdw>
          </a:effectLst>
        </p:spPr>
      </p:sp>
      <p:sp>
        <p:nvSpPr>
          <p:cNvPr id="5" name="Text 3"/>
          <p:cNvSpPr txBox="1"/>
          <p:nvPr/>
        </p:nvSpPr>
        <p:spPr>
          <a:xfrm>
            <a:off x="548640" y="685800"/>
            <a:ext cx="2103120" cy="310896"/>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EDUCATIONAL DEMO</a:t>
            </a:r>
            <a:endParaRPr lang="en-US" sz="1200" dirty="0"/>
          </a:p>
        </p:txBody>
      </p:sp>
      <p:sp>
        <p:nvSpPr>
          <p:cNvPr id="6" name="Text 4"/>
          <p:cNvSpPr txBox="1"/>
          <p:nvPr/>
        </p:nvSpPr>
        <p:spPr>
          <a:xfrm>
            <a:off x="548640" y="4434840"/>
            <a:ext cx="4937760" cy="365760"/>
          </a:xfrm>
          <a:prstGeom prst="rect">
            <a:avLst/>
          </a:prstGeom>
          <a:noFill/>
          <a:ln/>
        </p:spPr>
        <p:txBody>
          <a:bodyPr wrap="square" lIns="0" tIns="0" rIns="0" bIns="0" rtlCol="0" anchor="t"/>
          <a:lstStyle/>
          <a:p>
            <a:pPr indent="0" marL="0">
              <a:buNone/>
            </a:pPr>
            <a:r>
              <a:rPr lang="en-US" sz="1200" dirty="0">
                <a:solidFill>
                  <a:schemeClr val="bg2"/>
                </a:solidFill>
              </a:rPr>
              <a:t>Neural Network from Scratch: Interactive Binary Classification Demo</a:t>
            </a:r>
            <a:endParaRPr lang="en-US" sz="1200" dirty="0"/>
          </a:p>
        </p:txBody>
      </p:sp>
      <p:sp>
        <p:nvSpPr>
          <p:cNvPr id="7" name="Link"/>
          <p:cNvSpPr/>
          <p:nvPr/>
        </p:nvSpPr>
        <p:spPr>
          <a:xfrm>
            <a:off x="5943600" y="2011680"/>
            <a:ext cx="1188720" cy="0"/>
          </a:xfrm>
          <a:prstGeom prst="line">
            <a:avLst/>
          </a:prstGeom>
          <a:noFill/>
          <a:ln w="15875">
            <a:solidFill>
              <a:schemeClr val="accent1">
                <a:alpha val="60000"/>
              </a:schemeClr>
            </a:solidFill>
            <a:prstDash val="solid"/>
          </a:ln>
        </p:spPr>
      </p:sp>
      <p:sp>
        <p:nvSpPr>
          <p:cNvPr id="8" name="Link"/>
          <p:cNvSpPr/>
          <p:nvPr/>
        </p:nvSpPr>
        <p:spPr>
          <a:xfrm>
            <a:off x="5943600" y="2011680"/>
            <a:ext cx="1188720" cy="1188720"/>
          </a:xfrm>
          <a:prstGeom prst="line">
            <a:avLst/>
          </a:prstGeom>
          <a:noFill/>
          <a:ln w="15875">
            <a:solidFill>
              <a:schemeClr val="accent1">
                <a:alpha val="60000"/>
              </a:schemeClr>
            </a:solidFill>
            <a:prstDash val="solid"/>
          </a:ln>
        </p:spPr>
      </p:sp>
      <p:sp>
        <p:nvSpPr>
          <p:cNvPr id="9" name="Link"/>
          <p:cNvSpPr/>
          <p:nvPr/>
        </p:nvSpPr>
        <p:spPr>
          <a:xfrm flipV="1">
            <a:off x="5943600" y="2011680"/>
            <a:ext cx="1188720" cy="1188720"/>
          </a:xfrm>
          <a:prstGeom prst="line">
            <a:avLst/>
          </a:prstGeom>
          <a:noFill/>
          <a:ln w="15875">
            <a:solidFill>
              <a:schemeClr val="accent1">
                <a:alpha val="60000"/>
              </a:schemeClr>
            </a:solidFill>
            <a:prstDash val="solid"/>
          </a:ln>
        </p:spPr>
      </p:sp>
      <p:sp>
        <p:nvSpPr>
          <p:cNvPr id="10" name="Link"/>
          <p:cNvSpPr/>
          <p:nvPr/>
        </p:nvSpPr>
        <p:spPr>
          <a:xfrm>
            <a:off x="5943600" y="3200400"/>
            <a:ext cx="1188720" cy="0"/>
          </a:xfrm>
          <a:prstGeom prst="line">
            <a:avLst/>
          </a:prstGeom>
          <a:noFill/>
          <a:ln w="15875">
            <a:solidFill>
              <a:schemeClr val="accent1">
                <a:alpha val="60000"/>
              </a:schemeClr>
            </a:solidFill>
            <a:prstDash val="solid"/>
          </a:ln>
        </p:spPr>
      </p:sp>
      <p:sp>
        <p:nvSpPr>
          <p:cNvPr id="11" name="Link"/>
          <p:cNvSpPr/>
          <p:nvPr/>
        </p:nvSpPr>
        <p:spPr>
          <a:xfrm>
            <a:off x="7132320" y="2011680"/>
            <a:ext cx="1188720" cy="594360"/>
          </a:xfrm>
          <a:prstGeom prst="line">
            <a:avLst/>
          </a:prstGeom>
          <a:noFill/>
          <a:ln w="15875">
            <a:solidFill>
              <a:schemeClr val="accent1">
                <a:alpha val="60000"/>
              </a:schemeClr>
            </a:solidFill>
            <a:prstDash val="solid"/>
          </a:ln>
        </p:spPr>
      </p:sp>
      <p:sp>
        <p:nvSpPr>
          <p:cNvPr id="12" name="Link"/>
          <p:cNvSpPr/>
          <p:nvPr/>
        </p:nvSpPr>
        <p:spPr>
          <a:xfrm flipV="1">
            <a:off x="7132320" y="2606040"/>
            <a:ext cx="1188720" cy="594360"/>
          </a:xfrm>
          <a:prstGeom prst="line">
            <a:avLst/>
          </a:prstGeom>
          <a:noFill/>
          <a:ln w="15875">
            <a:solidFill>
              <a:schemeClr val="accent1">
                <a:alpha val="60000"/>
              </a:schemeClr>
            </a:solidFill>
            <a:prstDash val="solid"/>
          </a:ln>
        </p:spPr>
      </p:sp>
      <p:sp>
        <p:nvSpPr>
          <p:cNvPr id="13" name="Node 0"/>
          <p:cNvSpPr/>
          <p:nvPr/>
        </p:nvSpPr>
        <p:spPr>
          <a:xfrm>
            <a:off x="5696712" y="1764792"/>
            <a:ext cx="493776" cy="493776"/>
          </a:xfrm>
          <a:prstGeom prst="ellipse">
            <a:avLst/>
          </a:prstGeom>
          <a:solidFill>
            <a:schemeClr val="tx2"/>
          </a:solidFill>
          <a:ln w="22225">
            <a:solidFill>
              <a:schemeClr val="accent1"/>
            </a:solidFill>
            <a:prstDash val="solid"/>
          </a:ln>
          <a:effectLst>
            <a:outerShdw sx="100000" sy="100000" kx="0" ky="0" algn="bl" rotWithShape="0" blurRad="203200" dist="50800" dir="16200000">
              <a:srgbClr val="22D3EE">
                <a:alpha val="70000"/>
              </a:srgbClr>
            </a:outerShdw>
          </a:effectLst>
        </p:spPr>
      </p:sp>
      <p:sp>
        <p:nvSpPr>
          <p:cNvPr id="14" name="Node 1"/>
          <p:cNvSpPr/>
          <p:nvPr/>
        </p:nvSpPr>
        <p:spPr>
          <a:xfrm>
            <a:off x="5696712" y="2953512"/>
            <a:ext cx="493776" cy="493776"/>
          </a:xfrm>
          <a:prstGeom prst="ellipse">
            <a:avLst/>
          </a:prstGeom>
          <a:solidFill>
            <a:schemeClr val="tx2"/>
          </a:solidFill>
          <a:ln w="22225">
            <a:solidFill>
              <a:schemeClr val="accent1"/>
            </a:solidFill>
            <a:prstDash val="solid"/>
          </a:ln>
          <a:effectLst>
            <a:outerShdw sx="100000" sy="100000" kx="0" ky="0" algn="bl" rotWithShape="0" blurRad="203200" dist="50800" dir="16200000">
              <a:srgbClr val="22D3EE">
                <a:alpha val="70000"/>
              </a:srgbClr>
            </a:outerShdw>
          </a:effectLst>
        </p:spPr>
      </p:sp>
      <p:sp>
        <p:nvSpPr>
          <p:cNvPr id="15" name="Node 2"/>
          <p:cNvSpPr/>
          <p:nvPr/>
        </p:nvSpPr>
        <p:spPr>
          <a:xfrm>
            <a:off x="6885432" y="1764792"/>
            <a:ext cx="493776" cy="493776"/>
          </a:xfrm>
          <a:prstGeom prst="ellipse">
            <a:avLst/>
          </a:prstGeom>
          <a:solidFill>
            <a:schemeClr val="tx2"/>
          </a:solidFill>
          <a:ln w="22225">
            <a:solidFill>
              <a:schemeClr val="accent1"/>
            </a:solidFill>
            <a:prstDash val="solid"/>
          </a:ln>
          <a:effectLst>
            <a:outerShdw sx="100000" sy="100000" kx="0" ky="0" algn="bl" rotWithShape="0" blurRad="203200" dist="50800" dir="16200000">
              <a:srgbClr val="22D3EE">
                <a:alpha val="70000"/>
              </a:srgbClr>
            </a:outerShdw>
          </a:effectLst>
        </p:spPr>
      </p:sp>
      <p:sp>
        <p:nvSpPr>
          <p:cNvPr id="16" name="Node 3"/>
          <p:cNvSpPr/>
          <p:nvPr/>
        </p:nvSpPr>
        <p:spPr>
          <a:xfrm>
            <a:off x="6885432" y="2953512"/>
            <a:ext cx="493776" cy="493776"/>
          </a:xfrm>
          <a:prstGeom prst="ellipse">
            <a:avLst/>
          </a:prstGeom>
          <a:solidFill>
            <a:schemeClr val="tx2"/>
          </a:solidFill>
          <a:ln w="22225">
            <a:solidFill>
              <a:schemeClr val="accent1"/>
            </a:solidFill>
            <a:prstDash val="solid"/>
          </a:ln>
          <a:effectLst>
            <a:outerShdw sx="100000" sy="100000" kx="0" ky="0" algn="bl" rotWithShape="0" blurRad="203200" dist="50800" dir="16200000">
              <a:srgbClr val="22D3EE">
                <a:alpha val="70000"/>
              </a:srgbClr>
            </a:outerShdw>
          </a:effectLst>
        </p:spPr>
      </p:sp>
      <p:sp>
        <p:nvSpPr>
          <p:cNvPr id="17" name="Node 4"/>
          <p:cNvSpPr/>
          <p:nvPr/>
        </p:nvSpPr>
        <p:spPr>
          <a:xfrm>
            <a:off x="8074152" y="2359152"/>
            <a:ext cx="493776" cy="493776"/>
          </a:xfrm>
          <a:prstGeom prst="ellipse">
            <a:avLst/>
          </a:prstGeom>
          <a:solidFill>
            <a:schemeClr val="tx2"/>
          </a:solidFill>
          <a:ln w="22225">
            <a:solidFill>
              <a:schemeClr val="accent1"/>
            </a:solidFill>
            <a:prstDash val="solid"/>
          </a:ln>
          <a:effectLst>
            <a:outerShdw sx="100000" sy="100000" kx="0" ky="0" algn="bl" rotWithShape="0" blurRad="203200" dist="50800" dir="16200000">
              <a:srgbClr val="22D3EE">
                <a:alpha val="70000"/>
              </a:srgbClr>
            </a:outerShdw>
          </a:effectLst>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The problem: binary classification</a:t>
            </a:r>
            <a:endParaRPr lang="en-US" sz="3400" dirty="0"/>
          </a:p>
        </p:txBody>
      </p:sp>
      <p:sp>
        <p:nvSpPr>
          <p:cNvPr id="3" name="Text 1"/>
          <p:cNvSpPr txBox="1"/>
          <p:nvPr/>
        </p:nvSpPr>
        <p:spPr>
          <a:xfrm>
            <a:off x="457200" y="1234440"/>
            <a:ext cx="384048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Input: two numbers</a:t>
            </a:r>
            <a:endParaRPr lang="en-US" sz="1600" dirty="0"/>
          </a:p>
          <a:p>
            <a:pPr marL="342900" indent="-342900">
              <a:spcAft>
                <a:spcPts val="800"/>
              </a:spcAft>
              <a:buSzPct val="100000"/>
              <a:buChar char="•"/>
            </a:pPr>
            <a:r>
              <a:rPr lang="en-US" sz="1600" dirty="0">
                <a:solidFill>
                  <a:schemeClr val="bg1"/>
                </a:solidFill>
              </a:rPr>
              <a:t>Output: a label, Class 0 or Class 1</a:t>
            </a:r>
            <a:endParaRPr lang="en-US" sz="1600" dirty="0"/>
          </a:p>
          <a:p>
            <a:pPr marL="342900" indent="-342900">
              <a:spcAft>
                <a:spcPts val="800"/>
              </a:spcAft>
              <a:buSzPct val="100000"/>
              <a:buChar char="•"/>
            </a:pPr>
            <a:r>
              <a:rPr lang="en-US" sz="1600" dirty="0">
                <a:solidFill>
                  <a:schemeClr val="bg1"/>
                </a:solidFill>
              </a:rPr>
              <a:t>The network learns the pattern from labeled examples</a:t>
            </a:r>
            <a:endParaRPr lang="en-US" sz="1600" dirty="0"/>
          </a:p>
        </p:txBody>
      </p:sp>
      <p:sp>
        <p:nvSpPr>
          <p:cNvPr id="4" name="Caveat card"/>
          <p:cNvSpPr/>
          <p:nvPr/>
        </p:nvSpPr>
        <p:spPr>
          <a:xfrm>
            <a:off x="457200" y="3246120"/>
            <a:ext cx="3840480" cy="1097280"/>
          </a:xfrm>
          <a:prstGeom prst="roundRect">
            <a:avLst>
              <a:gd name="adj" fmla="val 10000"/>
            </a:avLst>
          </a:prstGeom>
          <a:solidFill>
            <a:schemeClr val="tx2"/>
          </a:solidFill>
          <a:ln w="9525">
            <a:solidFill>
              <a:schemeClr val="accent5">
                <a:alpha val="70000"/>
              </a:schemeClr>
            </a:solidFill>
            <a:prstDash val="solid"/>
          </a:ln>
        </p:spPr>
      </p:sp>
      <p:sp>
        <p:nvSpPr>
          <p:cNvPr id="5" name="Text 3"/>
          <p:cNvSpPr txBox="1"/>
          <p:nvPr/>
        </p:nvSpPr>
        <p:spPr>
          <a:xfrm>
            <a:off x="685800" y="3383280"/>
            <a:ext cx="3383280" cy="822960"/>
          </a:xfrm>
          <a:prstGeom prst="rect">
            <a:avLst/>
          </a:prstGeom>
          <a:noFill/>
          <a:ln/>
        </p:spPr>
        <p:txBody>
          <a:bodyPr wrap="square" lIns="0" tIns="0" rIns="0" bIns="0" rtlCol="0" anchor="ctr"/>
          <a:lstStyle/>
          <a:p>
            <a:pPr indent="0" marL="0">
              <a:buNone/>
            </a:pPr>
            <a:r>
              <a:rPr lang="en-US" sz="1400" b="1" dirty="0">
                <a:solidFill>
                  <a:schemeClr val="accent5"/>
                </a:solidFill>
              </a:rPr>
              <a:t>Sample labels only</a:t>
            </a:r>
            <a:endParaRPr lang="en-US" sz="1400" dirty="0"/>
          </a:p>
          <a:p>
            <a:pPr indent="0" marL="0">
              <a:buNone/>
            </a:pPr>
            <a:r>
              <a:rPr lang="en-US" sz="1400" dirty="0">
                <a:solidFill>
                  <a:schemeClr val="bg1"/>
                </a:solidFill>
              </a:rPr>
              <a:t>They do not represent real-world categories.</a:t>
            </a:r>
            <a:endParaRPr lang="en-US" sz="1400" dirty="0"/>
          </a:p>
        </p:txBody>
      </p:sp>
      <p:sp>
        <p:nvSpPr>
          <p:cNvPr id="6" name="Point card 1"/>
          <p:cNvSpPr/>
          <p:nvPr/>
        </p:nvSpPr>
        <p:spPr>
          <a:xfrm>
            <a:off x="4572000" y="1234440"/>
            <a:ext cx="1920240" cy="1325880"/>
          </a:xfrm>
          <a:prstGeom prst="roundRect">
            <a:avLst>
              <a:gd name="adj" fmla="val 8276"/>
            </a:avLst>
          </a:prstGeom>
          <a:solidFill>
            <a:schemeClr val="tx2"/>
          </a:solidFill>
          <a:ln w="9525">
            <a:solidFill>
              <a:schemeClr val="accent1">
                <a:alpha val="45000"/>
              </a:schemeClr>
            </a:solidFill>
            <a:prstDash val="solid"/>
          </a:ln>
        </p:spPr>
      </p:sp>
      <p:sp>
        <p:nvSpPr>
          <p:cNvPr id="7" name="Text 5"/>
          <p:cNvSpPr txBox="1"/>
          <p:nvPr/>
        </p:nvSpPr>
        <p:spPr>
          <a:xfrm>
            <a:off x="4754880" y="1344168"/>
            <a:ext cx="1554480" cy="228600"/>
          </a:xfrm>
          <a:prstGeom prst="rect">
            <a:avLst/>
          </a:prstGeom>
          <a:noFill/>
          <a:ln/>
        </p:spPr>
        <p:txBody>
          <a:bodyPr wrap="square" lIns="0" tIns="0" rIns="0" bIns="0" rtlCol="0" anchor="t"/>
          <a:lstStyle/>
          <a:p>
            <a:pPr indent="0" marL="0">
              <a:buNone/>
            </a:pPr>
            <a:r>
              <a:rPr lang="en-US" sz="1200" dirty="0">
                <a:solidFill>
                  <a:schemeClr val="bg2"/>
                </a:solidFill>
              </a:rPr>
              <a:t>Example 1</a:t>
            </a:r>
            <a:endParaRPr lang="en-US" sz="1200" dirty="0"/>
          </a:p>
        </p:txBody>
      </p:sp>
      <p:sp>
        <p:nvSpPr>
          <p:cNvPr id="8" name="Text 6"/>
          <p:cNvSpPr txBox="1"/>
          <p:nvPr/>
        </p:nvSpPr>
        <p:spPr>
          <a:xfrm>
            <a:off x="4754880" y="1600200"/>
            <a:ext cx="1554480" cy="411480"/>
          </a:xfrm>
          <a:prstGeom prst="rect">
            <a:avLst/>
          </a:prstGeom>
          <a:noFill/>
          <a:ln/>
        </p:spPr>
        <p:txBody>
          <a:bodyPr wrap="square" lIns="0" tIns="0" rIns="0" bIns="0" rtlCol="0" anchor="t"/>
          <a:lstStyle/>
          <a:p>
            <a:pPr indent="0" marL="0">
              <a:buNone/>
            </a:pPr>
            <a:r>
              <a:rPr lang="en-US" sz="2400" b="1" dirty="0">
                <a:solidFill>
                  <a:schemeClr val="bg1"/>
                </a:solidFill>
              </a:rPr>
              <a:t>(-2, -1)</a:t>
            </a:r>
            <a:endParaRPr lang="en-US" sz="2400" dirty="0"/>
          </a:p>
        </p:txBody>
      </p:sp>
      <p:sp>
        <p:nvSpPr>
          <p:cNvPr id="9" name="Class pill 1"/>
          <p:cNvSpPr/>
          <p:nvPr/>
        </p:nvSpPr>
        <p:spPr>
          <a:xfrm>
            <a:off x="4754880" y="2103120"/>
            <a:ext cx="1005840" cy="301752"/>
          </a:xfrm>
          <a:prstGeom prst="roundRect">
            <a:avLst>
              <a:gd name="adj" fmla="val 48485"/>
            </a:avLst>
          </a:prstGeom>
          <a:solidFill>
            <a:schemeClr val="accent1"/>
          </a:solidFill>
          <a:ln/>
        </p:spPr>
      </p:sp>
      <p:sp>
        <p:nvSpPr>
          <p:cNvPr id="10" name="Text 8"/>
          <p:cNvSpPr txBox="1"/>
          <p:nvPr/>
        </p:nvSpPr>
        <p:spPr>
          <a:xfrm>
            <a:off x="4754880" y="2103120"/>
            <a:ext cx="1005840" cy="301752"/>
          </a:xfrm>
          <a:prstGeom prst="rect">
            <a:avLst/>
          </a:prstGeom>
          <a:noFill/>
          <a:ln/>
        </p:spPr>
        <p:txBody>
          <a:bodyPr wrap="square" lIns="0" tIns="0" rIns="0" bIns="0" rtlCol="0" anchor="ctr"/>
          <a:lstStyle/>
          <a:p>
            <a:pPr algn="ctr" indent="0" marL="0">
              <a:buNone/>
            </a:pPr>
            <a:r>
              <a:rPr lang="en-US" sz="1300" b="1" dirty="0">
                <a:solidFill>
                  <a:schemeClr val="tx1"/>
                </a:solidFill>
              </a:rPr>
              <a:t>Class 1</a:t>
            </a:r>
            <a:endParaRPr lang="en-US" sz="1300" dirty="0"/>
          </a:p>
        </p:txBody>
      </p:sp>
      <p:sp>
        <p:nvSpPr>
          <p:cNvPr id="11" name="Point card 2"/>
          <p:cNvSpPr/>
          <p:nvPr/>
        </p:nvSpPr>
        <p:spPr>
          <a:xfrm>
            <a:off x="6766560" y="1234440"/>
            <a:ext cx="1920240" cy="1325880"/>
          </a:xfrm>
          <a:prstGeom prst="roundRect">
            <a:avLst>
              <a:gd name="adj" fmla="val 8276"/>
            </a:avLst>
          </a:prstGeom>
          <a:solidFill>
            <a:schemeClr val="tx2"/>
          </a:solidFill>
          <a:ln w="9525">
            <a:solidFill>
              <a:schemeClr val="accent1">
                <a:alpha val="45000"/>
              </a:schemeClr>
            </a:solidFill>
            <a:prstDash val="solid"/>
          </a:ln>
        </p:spPr>
      </p:sp>
      <p:sp>
        <p:nvSpPr>
          <p:cNvPr id="12" name="Text 10"/>
          <p:cNvSpPr txBox="1"/>
          <p:nvPr/>
        </p:nvSpPr>
        <p:spPr>
          <a:xfrm>
            <a:off x="6949440" y="1344168"/>
            <a:ext cx="1554480" cy="228600"/>
          </a:xfrm>
          <a:prstGeom prst="rect">
            <a:avLst/>
          </a:prstGeom>
          <a:noFill/>
          <a:ln/>
        </p:spPr>
        <p:txBody>
          <a:bodyPr wrap="square" lIns="0" tIns="0" rIns="0" bIns="0" rtlCol="0" anchor="t"/>
          <a:lstStyle/>
          <a:p>
            <a:pPr indent="0" marL="0">
              <a:buNone/>
            </a:pPr>
            <a:r>
              <a:rPr lang="en-US" sz="1200" dirty="0">
                <a:solidFill>
                  <a:schemeClr val="bg2"/>
                </a:solidFill>
              </a:rPr>
              <a:t>Example 2</a:t>
            </a:r>
            <a:endParaRPr lang="en-US" sz="1200" dirty="0"/>
          </a:p>
        </p:txBody>
      </p:sp>
      <p:sp>
        <p:nvSpPr>
          <p:cNvPr id="13" name="Text 11"/>
          <p:cNvSpPr txBox="1"/>
          <p:nvPr/>
        </p:nvSpPr>
        <p:spPr>
          <a:xfrm>
            <a:off x="6949440" y="1600200"/>
            <a:ext cx="1554480" cy="411480"/>
          </a:xfrm>
          <a:prstGeom prst="rect">
            <a:avLst/>
          </a:prstGeom>
          <a:noFill/>
          <a:ln/>
        </p:spPr>
        <p:txBody>
          <a:bodyPr wrap="square" lIns="0" tIns="0" rIns="0" bIns="0" rtlCol="0" anchor="t"/>
          <a:lstStyle/>
          <a:p>
            <a:pPr indent="0" marL="0">
              <a:buNone/>
            </a:pPr>
            <a:r>
              <a:rPr lang="en-US" sz="2400" b="1" dirty="0">
                <a:solidFill>
                  <a:schemeClr val="bg1"/>
                </a:solidFill>
              </a:rPr>
              <a:t>(25, 6)</a:t>
            </a:r>
            <a:endParaRPr lang="en-US" sz="2400" dirty="0"/>
          </a:p>
        </p:txBody>
      </p:sp>
      <p:sp>
        <p:nvSpPr>
          <p:cNvPr id="14" name="Class pill 2"/>
          <p:cNvSpPr/>
          <p:nvPr/>
        </p:nvSpPr>
        <p:spPr>
          <a:xfrm>
            <a:off x="6949440" y="2103120"/>
            <a:ext cx="1005840" cy="301752"/>
          </a:xfrm>
          <a:prstGeom prst="roundRect">
            <a:avLst>
              <a:gd name="adj" fmla="val 48485"/>
            </a:avLst>
          </a:prstGeom>
          <a:solidFill>
            <a:schemeClr val="accent5"/>
          </a:solidFill>
          <a:ln/>
        </p:spPr>
      </p:sp>
      <p:sp>
        <p:nvSpPr>
          <p:cNvPr id="15" name="Text 13"/>
          <p:cNvSpPr txBox="1"/>
          <p:nvPr/>
        </p:nvSpPr>
        <p:spPr>
          <a:xfrm>
            <a:off x="6949440" y="2103120"/>
            <a:ext cx="1005840" cy="301752"/>
          </a:xfrm>
          <a:prstGeom prst="rect">
            <a:avLst/>
          </a:prstGeom>
          <a:noFill/>
          <a:ln/>
        </p:spPr>
        <p:txBody>
          <a:bodyPr wrap="square" lIns="0" tIns="0" rIns="0" bIns="0" rtlCol="0" anchor="ctr"/>
          <a:lstStyle/>
          <a:p>
            <a:pPr algn="ctr" indent="0" marL="0">
              <a:buNone/>
            </a:pPr>
            <a:r>
              <a:rPr lang="en-US" sz="1300" b="1" dirty="0">
                <a:solidFill>
                  <a:schemeClr val="tx1"/>
                </a:solidFill>
              </a:rPr>
              <a:t>Class 0</a:t>
            </a:r>
            <a:endParaRPr lang="en-US" sz="1300" dirty="0"/>
          </a:p>
        </p:txBody>
      </p:sp>
      <p:sp>
        <p:nvSpPr>
          <p:cNvPr id="16" name="Point card 3"/>
          <p:cNvSpPr/>
          <p:nvPr/>
        </p:nvSpPr>
        <p:spPr>
          <a:xfrm>
            <a:off x="4572000" y="2834640"/>
            <a:ext cx="1920240" cy="1325880"/>
          </a:xfrm>
          <a:prstGeom prst="roundRect">
            <a:avLst>
              <a:gd name="adj" fmla="val 8276"/>
            </a:avLst>
          </a:prstGeom>
          <a:solidFill>
            <a:schemeClr val="tx2"/>
          </a:solidFill>
          <a:ln w="9525">
            <a:solidFill>
              <a:schemeClr val="accent1">
                <a:alpha val="45000"/>
              </a:schemeClr>
            </a:solidFill>
            <a:prstDash val="solid"/>
          </a:ln>
        </p:spPr>
      </p:sp>
      <p:sp>
        <p:nvSpPr>
          <p:cNvPr id="17" name="Text 15"/>
          <p:cNvSpPr txBox="1"/>
          <p:nvPr/>
        </p:nvSpPr>
        <p:spPr>
          <a:xfrm>
            <a:off x="4754880" y="2944368"/>
            <a:ext cx="1554480" cy="228600"/>
          </a:xfrm>
          <a:prstGeom prst="rect">
            <a:avLst/>
          </a:prstGeom>
          <a:noFill/>
          <a:ln/>
        </p:spPr>
        <p:txBody>
          <a:bodyPr wrap="square" lIns="0" tIns="0" rIns="0" bIns="0" rtlCol="0" anchor="t"/>
          <a:lstStyle/>
          <a:p>
            <a:pPr indent="0" marL="0">
              <a:buNone/>
            </a:pPr>
            <a:r>
              <a:rPr lang="en-US" sz="1200" dirty="0">
                <a:solidFill>
                  <a:schemeClr val="bg2"/>
                </a:solidFill>
              </a:rPr>
              <a:t>Example 3</a:t>
            </a:r>
            <a:endParaRPr lang="en-US" sz="1200" dirty="0"/>
          </a:p>
        </p:txBody>
      </p:sp>
      <p:sp>
        <p:nvSpPr>
          <p:cNvPr id="18" name="Text 16"/>
          <p:cNvSpPr txBox="1"/>
          <p:nvPr/>
        </p:nvSpPr>
        <p:spPr>
          <a:xfrm>
            <a:off x="4754880" y="3200400"/>
            <a:ext cx="1554480" cy="411480"/>
          </a:xfrm>
          <a:prstGeom prst="rect">
            <a:avLst/>
          </a:prstGeom>
          <a:noFill/>
          <a:ln/>
        </p:spPr>
        <p:txBody>
          <a:bodyPr wrap="square" lIns="0" tIns="0" rIns="0" bIns="0" rtlCol="0" anchor="t"/>
          <a:lstStyle/>
          <a:p>
            <a:pPr indent="0" marL="0">
              <a:buNone/>
            </a:pPr>
            <a:r>
              <a:rPr lang="en-US" sz="2400" b="1" dirty="0">
                <a:solidFill>
                  <a:schemeClr val="bg1"/>
                </a:solidFill>
              </a:rPr>
              <a:t>(17, 4)</a:t>
            </a:r>
            <a:endParaRPr lang="en-US" sz="2400" dirty="0"/>
          </a:p>
        </p:txBody>
      </p:sp>
      <p:sp>
        <p:nvSpPr>
          <p:cNvPr id="19" name="Class pill 3"/>
          <p:cNvSpPr/>
          <p:nvPr/>
        </p:nvSpPr>
        <p:spPr>
          <a:xfrm>
            <a:off x="4754880" y="3703320"/>
            <a:ext cx="1005840" cy="301752"/>
          </a:xfrm>
          <a:prstGeom prst="roundRect">
            <a:avLst>
              <a:gd name="adj" fmla="val 48485"/>
            </a:avLst>
          </a:prstGeom>
          <a:solidFill>
            <a:schemeClr val="accent5"/>
          </a:solidFill>
          <a:ln/>
        </p:spPr>
      </p:sp>
      <p:sp>
        <p:nvSpPr>
          <p:cNvPr id="20" name="Text 18"/>
          <p:cNvSpPr txBox="1"/>
          <p:nvPr/>
        </p:nvSpPr>
        <p:spPr>
          <a:xfrm>
            <a:off x="4754880" y="3703320"/>
            <a:ext cx="1005840" cy="301752"/>
          </a:xfrm>
          <a:prstGeom prst="rect">
            <a:avLst/>
          </a:prstGeom>
          <a:noFill/>
          <a:ln/>
        </p:spPr>
        <p:txBody>
          <a:bodyPr wrap="square" lIns="0" tIns="0" rIns="0" bIns="0" rtlCol="0" anchor="ctr"/>
          <a:lstStyle/>
          <a:p>
            <a:pPr algn="ctr" indent="0" marL="0">
              <a:buNone/>
            </a:pPr>
            <a:r>
              <a:rPr lang="en-US" sz="1300" b="1" dirty="0">
                <a:solidFill>
                  <a:schemeClr val="tx1"/>
                </a:solidFill>
              </a:rPr>
              <a:t>Class 0</a:t>
            </a:r>
            <a:endParaRPr lang="en-US" sz="1300" dirty="0"/>
          </a:p>
        </p:txBody>
      </p:sp>
      <p:sp>
        <p:nvSpPr>
          <p:cNvPr id="21" name="Point card 4"/>
          <p:cNvSpPr/>
          <p:nvPr/>
        </p:nvSpPr>
        <p:spPr>
          <a:xfrm>
            <a:off x="6766560" y="2834640"/>
            <a:ext cx="1920240" cy="1325880"/>
          </a:xfrm>
          <a:prstGeom prst="roundRect">
            <a:avLst>
              <a:gd name="adj" fmla="val 8276"/>
            </a:avLst>
          </a:prstGeom>
          <a:solidFill>
            <a:schemeClr val="tx2"/>
          </a:solidFill>
          <a:ln w="9525">
            <a:solidFill>
              <a:schemeClr val="accent1">
                <a:alpha val="45000"/>
              </a:schemeClr>
            </a:solidFill>
            <a:prstDash val="solid"/>
          </a:ln>
        </p:spPr>
      </p:sp>
      <p:sp>
        <p:nvSpPr>
          <p:cNvPr id="22" name="Text 20"/>
          <p:cNvSpPr txBox="1"/>
          <p:nvPr/>
        </p:nvSpPr>
        <p:spPr>
          <a:xfrm>
            <a:off x="6949440" y="2944368"/>
            <a:ext cx="1554480" cy="228600"/>
          </a:xfrm>
          <a:prstGeom prst="rect">
            <a:avLst/>
          </a:prstGeom>
          <a:noFill/>
          <a:ln/>
        </p:spPr>
        <p:txBody>
          <a:bodyPr wrap="square" lIns="0" tIns="0" rIns="0" bIns="0" rtlCol="0" anchor="t"/>
          <a:lstStyle/>
          <a:p>
            <a:pPr indent="0" marL="0">
              <a:buNone/>
            </a:pPr>
            <a:r>
              <a:rPr lang="en-US" sz="1200" dirty="0">
                <a:solidFill>
                  <a:schemeClr val="bg2"/>
                </a:solidFill>
              </a:rPr>
              <a:t>Example 4</a:t>
            </a:r>
            <a:endParaRPr lang="en-US" sz="1200" dirty="0"/>
          </a:p>
        </p:txBody>
      </p:sp>
      <p:sp>
        <p:nvSpPr>
          <p:cNvPr id="23" name="Text 21"/>
          <p:cNvSpPr txBox="1"/>
          <p:nvPr/>
        </p:nvSpPr>
        <p:spPr>
          <a:xfrm>
            <a:off x="6949440" y="3200400"/>
            <a:ext cx="1554480" cy="411480"/>
          </a:xfrm>
          <a:prstGeom prst="rect">
            <a:avLst/>
          </a:prstGeom>
          <a:noFill/>
          <a:ln/>
        </p:spPr>
        <p:txBody>
          <a:bodyPr wrap="square" lIns="0" tIns="0" rIns="0" bIns="0" rtlCol="0" anchor="t"/>
          <a:lstStyle/>
          <a:p>
            <a:pPr indent="0" marL="0">
              <a:buNone/>
            </a:pPr>
            <a:r>
              <a:rPr lang="en-US" sz="2400" b="1" dirty="0">
                <a:solidFill>
                  <a:schemeClr val="bg1"/>
                </a:solidFill>
              </a:rPr>
              <a:t>(-15, -6)</a:t>
            </a:r>
            <a:endParaRPr lang="en-US" sz="2400" dirty="0"/>
          </a:p>
        </p:txBody>
      </p:sp>
      <p:sp>
        <p:nvSpPr>
          <p:cNvPr id="24" name="Class pill 4"/>
          <p:cNvSpPr/>
          <p:nvPr/>
        </p:nvSpPr>
        <p:spPr>
          <a:xfrm>
            <a:off x="6949440" y="3703320"/>
            <a:ext cx="1005840" cy="301752"/>
          </a:xfrm>
          <a:prstGeom prst="roundRect">
            <a:avLst>
              <a:gd name="adj" fmla="val 48485"/>
            </a:avLst>
          </a:prstGeom>
          <a:solidFill>
            <a:schemeClr val="accent1"/>
          </a:solidFill>
          <a:ln/>
        </p:spPr>
      </p:sp>
      <p:sp>
        <p:nvSpPr>
          <p:cNvPr id="25" name="Text 23"/>
          <p:cNvSpPr txBox="1"/>
          <p:nvPr/>
        </p:nvSpPr>
        <p:spPr>
          <a:xfrm>
            <a:off x="6949440" y="3703320"/>
            <a:ext cx="1005840" cy="301752"/>
          </a:xfrm>
          <a:prstGeom prst="rect">
            <a:avLst/>
          </a:prstGeom>
          <a:noFill/>
          <a:ln/>
        </p:spPr>
        <p:txBody>
          <a:bodyPr wrap="square" lIns="0" tIns="0" rIns="0" bIns="0" rtlCol="0" anchor="ctr"/>
          <a:lstStyle/>
          <a:p>
            <a:pPr algn="ctr" indent="0" marL="0">
              <a:buNone/>
            </a:pPr>
            <a:r>
              <a:rPr lang="en-US" sz="1300" b="1" dirty="0">
                <a:solidFill>
                  <a:schemeClr val="tx1"/>
                </a:solidFill>
              </a:rPr>
              <a:t>Class 1</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How the neural network works</a:t>
            </a:r>
            <a:endParaRPr lang="en-US" sz="3400" dirty="0"/>
          </a:p>
        </p:txBody>
      </p:sp>
      <p:sp>
        <p:nvSpPr>
          <p:cNvPr id="3" name="Diagram card"/>
          <p:cNvSpPr/>
          <p:nvPr/>
        </p:nvSpPr>
        <p:spPr>
          <a:xfrm>
            <a:off x="457200" y="1143000"/>
            <a:ext cx="8229600" cy="2148840"/>
          </a:xfrm>
          <a:prstGeom prst="roundRect">
            <a:avLst>
              <a:gd name="adj" fmla="val 5106"/>
            </a:avLst>
          </a:prstGeom>
          <a:solidFill>
            <a:schemeClr val="tx2"/>
          </a:solidFill>
          <a:ln w="9525">
            <a:solidFill>
              <a:schemeClr val="accent1">
                <a:alpha val="45000"/>
              </a:schemeClr>
            </a:solidFill>
            <a:prstDash val="solid"/>
          </a:ln>
          <a:effectLst>
            <a:outerShdw sx="100000" sy="100000" kx="0" ky="0" algn="bl" rotWithShape="0" blurRad="177800" dist="50800" dir="16200000">
              <a:srgbClr val="22D3EE">
                <a:alpha val="45000"/>
              </a:srgbClr>
            </a:outerShdw>
          </a:effectLst>
        </p:spPr>
      </p:sp>
      <p:sp>
        <p:nvSpPr>
          <p:cNvPr id="4" name="Text 2"/>
          <p:cNvSpPr txBox="1"/>
          <p:nvPr/>
        </p:nvSpPr>
        <p:spPr>
          <a:xfrm>
            <a:off x="548640" y="1261872"/>
            <a:ext cx="1828800" cy="256032"/>
          </a:xfrm>
          <a:prstGeom prst="rect">
            <a:avLst/>
          </a:prstGeom>
          <a:noFill/>
          <a:ln/>
        </p:spPr>
        <p:txBody>
          <a:bodyPr wrap="square" lIns="0" tIns="0" rIns="0" bIns="0" rtlCol="0" anchor="t"/>
          <a:lstStyle/>
          <a:p>
            <a:pPr algn="ctr" indent="0" marL="0">
              <a:buNone/>
            </a:pPr>
            <a:r>
              <a:rPr lang="en-US" sz="1300" dirty="0">
                <a:solidFill>
                  <a:schemeClr val="bg2"/>
                </a:solidFill>
              </a:rPr>
              <a:t>2 input values</a:t>
            </a:r>
            <a:endParaRPr lang="en-US" sz="1300" dirty="0"/>
          </a:p>
        </p:txBody>
      </p:sp>
      <p:sp>
        <p:nvSpPr>
          <p:cNvPr id="5" name="Text 3"/>
          <p:cNvSpPr txBox="1"/>
          <p:nvPr/>
        </p:nvSpPr>
        <p:spPr>
          <a:xfrm>
            <a:off x="2926080" y="1261872"/>
            <a:ext cx="1828800" cy="256032"/>
          </a:xfrm>
          <a:prstGeom prst="rect">
            <a:avLst/>
          </a:prstGeom>
          <a:noFill/>
          <a:ln/>
        </p:spPr>
        <p:txBody>
          <a:bodyPr wrap="square" lIns="0" tIns="0" rIns="0" bIns="0" rtlCol="0" anchor="t"/>
          <a:lstStyle/>
          <a:p>
            <a:pPr algn="ctr" indent="0" marL="0">
              <a:buNone/>
            </a:pPr>
            <a:r>
              <a:rPr lang="en-US" sz="1300" dirty="0">
                <a:solidFill>
                  <a:schemeClr val="bg2"/>
                </a:solidFill>
              </a:rPr>
              <a:t>2 hidden neurons</a:t>
            </a:r>
            <a:endParaRPr lang="en-US" sz="1300" dirty="0"/>
          </a:p>
        </p:txBody>
      </p:sp>
      <p:sp>
        <p:nvSpPr>
          <p:cNvPr id="6" name="Text 4"/>
          <p:cNvSpPr txBox="1"/>
          <p:nvPr/>
        </p:nvSpPr>
        <p:spPr>
          <a:xfrm>
            <a:off x="5029200" y="1261872"/>
            <a:ext cx="1828800" cy="256032"/>
          </a:xfrm>
          <a:prstGeom prst="rect">
            <a:avLst/>
          </a:prstGeom>
          <a:noFill/>
          <a:ln/>
        </p:spPr>
        <p:txBody>
          <a:bodyPr wrap="square" lIns="0" tIns="0" rIns="0" bIns="0" rtlCol="0" anchor="t"/>
          <a:lstStyle/>
          <a:p>
            <a:pPr algn="ctr" indent="0" marL="0">
              <a:buNone/>
            </a:pPr>
            <a:r>
              <a:rPr lang="en-US" sz="1300" dirty="0">
                <a:solidFill>
                  <a:schemeClr val="bg2"/>
                </a:solidFill>
              </a:rPr>
              <a:t>1 output</a:t>
            </a:r>
            <a:endParaRPr lang="en-US" sz="1300" dirty="0"/>
          </a:p>
        </p:txBody>
      </p:sp>
      <p:sp>
        <p:nvSpPr>
          <p:cNvPr id="7" name="Weight link"/>
          <p:cNvSpPr/>
          <p:nvPr/>
        </p:nvSpPr>
        <p:spPr>
          <a:xfrm>
            <a:off x="1737360" y="1920240"/>
            <a:ext cx="1828800" cy="0"/>
          </a:xfrm>
          <a:prstGeom prst="line">
            <a:avLst/>
          </a:prstGeom>
          <a:noFill/>
          <a:ln w="15875">
            <a:solidFill>
              <a:schemeClr val="accent1">
                <a:alpha val="65000"/>
              </a:schemeClr>
            </a:solidFill>
            <a:prstDash val="solid"/>
          </a:ln>
        </p:spPr>
      </p:sp>
      <p:sp>
        <p:nvSpPr>
          <p:cNvPr id="8" name="Weight link"/>
          <p:cNvSpPr/>
          <p:nvPr/>
        </p:nvSpPr>
        <p:spPr>
          <a:xfrm>
            <a:off x="1737360" y="1920240"/>
            <a:ext cx="1828800" cy="731520"/>
          </a:xfrm>
          <a:prstGeom prst="line">
            <a:avLst/>
          </a:prstGeom>
          <a:noFill/>
          <a:ln w="15875">
            <a:solidFill>
              <a:schemeClr val="accent1">
                <a:alpha val="65000"/>
              </a:schemeClr>
            </a:solidFill>
            <a:prstDash val="solid"/>
          </a:ln>
        </p:spPr>
      </p:sp>
      <p:sp>
        <p:nvSpPr>
          <p:cNvPr id="9" name="Weight link"/>
          <p:cNvSpPr/>
          <p:nvPr/>
        </p:nvSpPr>
        <p:spPr>
          <a:xfrm flipV="1">
            <a:off x="1737360" y="1920240"/>
            <a:ext cx="1828800" cy="731520"/>
          </a:xfrm>
          <a:prstGeom prst="line">
            <a:avLst/>
          </a:prstGeom>
          <a:noFill/>
          <a:ln w="15875">
            <a:solidFill>
              <a:schemeClr val="accent1">
                <a:alpha val="65000"/>
              </a:schemeClr>
            </a:solidFill>
            <a:prstDash val="solid"/>
          </a:ln>
        </p:spPr>
      </p:sp>
      <p:sp>
        <p:nvSpPr>
          <p:cNvPr id="10" name="Weight link"/>
          <p:cNvSpPr/>
          <p:nvPr/>
        </p:nvSpPr>
        <p:spPr>
          <a:xfrm>
            <a:off x="1737360" y="2651760"/>
            <a:ext cx="1828800" cy="0"/>
          </a:xfrm>
          <a:prstGeom prst="line">
            <a:avLst/>
          </a:prstGeom>
          <a:noFill/>
          <a:ln w="15875">
            <a:solidFill>
              <a:schemeClr val="accent1">
                <a:alpha val="65000"/>
              </a:schemeClr>
            </a:solidFill>
            <a:prstDash val="solid"/>
          </a:ln>
        </p:spPr>
      </p:sp>
      <p:sp>
        <p:nvSpPr>
          <p:cNvPr id="11" name="Weight link"/>
          <p:cNvSpPr/>
          <p:nvPr/>
        </p:nvSpPr>
        <p:spPr>
          <a:xfrm>
            <a:off x="4114800" y="1920240"/>
            <a:ext cx="1554480" cy="365760"/>
          </a:xfrm>
          <a:prstGeom prst="line">
            <a:avLst/>
          </a:prstGeom>
          <a:noFill/>
          <a:ln w="15875">
            <a:solidFill>
              <a:schemeClr val="accent1">
                <a:alpha val="65000"/>
              </a:schemeClr>
            </a:solidFill>
            <a:prstDash val="solid"/>
          </a:ln>
        </p:spPr>
      </p:sp>
      <p:sp>
        <p:nvSpPr>
          <p:cNvPr id="12" name="Weight link"/>
          <p:cNvSpPr/>
          <p:nvPr/>
        </p:nvSpPr>
        <p:spPr>
          <a:xfrm flipV="1">
            <a:off x="4114800" y="2286000"/>
            <a:ext cx="1554480" cy="365760"/>
          </a:xfrm>
          <a:prstGeom prst="line">
            <a:avLst/>
          </a:prstGeom>
          <a:noFill/>
          <a:ln w="15875">
            <a:solidFill>
              <a:schemeClr val="accent1">
                <a:alpha val="65000"/>
              </a:schemeClr>
            </a:solidFill>
            <a:prstDash val="solid"/>
          </a:ln>
        </p:spPr>
      </p:sp>
      <p:sp>
        <p:nvSpPr>
          <p:cNvPr id="13" name="Node x1"/>
          <p:cNvSpPr/>
          <p:nvPr/>
        </p:nvSpPr>
        <p:spPr>
          <a:xfrm>
            <a:off x="1188720" y="1645920"/>
            <a:ext cx="548640" cy="548640"/>
          </a:xfrm>
          <a:prstGeom prst="ellipse">
            <a:avLst/>
          </a:prstGeom>
          <a:solidFill>
            <a:schemeClr val="tx1"/>
          </a:solidFill>
          <a:ln w="22225">
            <a:solidFill>
              <a:schemeClr val="accent1"/>
            </a:solidFill>
            <a:prstDash val="solid"/>
          </a:ln>
          <a:effectLst>
            <a:outerShdw sx="100000" sy="100000" kx="0" ky="0" algn="bl" rotWithShape="0" blurRad="177800" dist="50800" dir="16200000">
              <a:srgbClr val="22D3EE">
                <a:alpha val="60000"/>
              </a:srgbClr>
            </a:outerShdw>
          </a:effectLst>
        </p:spPr>
      </p:sp>
      <p:sp>
        <p:nvSpPr>
          <p:cNvPr id="14" name="Text 12"/>
          <p:cNvSpPr txBox="1"/>
          <p:nvPr/>
        </p:nvSpPr>
        <p:spPr>
          <a:xfrm>
            <a:off x="118872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x1</a:t>
            </a:r>
            <a:endParaRPr lang="en-US" sz="1400" dirty="0"/>
          </a:p>
        </p:txBody>
      </p:sp>
      <p:sp>
        <p:nvSpPr>
          <p:cNvPr id="15" name="Node x2"/>
          <p:cNvSpPr/>
          <p:nvPr/>
        </p:nvSpPr>
        <p:spPr>
          <a:xfrm>
            <a:off x="1188720" y="2377440"/>
            <a:ext cx="548640" cy="548640"/>
          </a:xfrm>
          <a:prstGeom prst="ellipse">
            <a:avLst/>
          </a:prstGeom>
          <a:solidFill>
            <a:schemeClr val="tx1"/>
          </a:solidFill>
          <a:ln w="22225">
            <a:solidFill>
              <a:schemeClr val="accent1"/>
            </a:solidFill>
            <a:prstDash val="solid"/>
          </a:ln>
          <a:effectLst>
            <a:outerShdw sx="100000" sy="100000" kx="0" ky="0" algn="bl" rotWithShape="0" blurRad="177800" dist="50800" dir="16200000">
              <a:srgbClr val="22D3EE">
                <a:alpha val="60000"/>
              </a:srgbClr>
            </a:outerShdw>
          </a:effectLst>
        </p:spPr>
      </p:sp>
      <p:sp>
        <p:nvSpPr>
          <p:cNvPr id="16" name="Text 14"/>
          <p:cNvSpPr txBox="1"/>
          <p:nvPr/>
        </p:nvSpPr>
        <p:spPr>
          <a:xfrm>
            <a:off x="1188720" y="23774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x2</a:t>
            </a:r>
            <a:endParaRPr lang="en-US" sz="1400" dirty="0"/>
          </a:p>
        </p:txBody>
      </p:sp>
      <p:sp>
        <p:nvSpPr>
          <p:cNvPr id="17" name="Node h1"/>
          <p:cNvSpPr/>
          <p:nvPr/>
        </p:nvSpPr>
        <p:spPr>
          <a:xfrm>
            <a:off x="3566160" y="1645920"/>
            <a:ext cx="548640" cy="548640"/>
          </a:xfrm>
          <a:prstGeom prst="ellipse">
            <a:avLst/>
          </a:prstGeom>
          <a:solidFill>
            <a:schemeClr val="tx1"/>
          </a:solidFill>
          <a:ln w="22225">
            <a:solidFill>
              <a:schemeClr val="accent1"/>
            </a:solidFill>
            <a:prstDash val="solid"/>
          </a:ln>
          <a:effectLst>
            <a:outerShdw sx="100000" sy="100000" kx="0" ky="0" algn="bl" rotWithShape="0" blurRad="177800" dist="50800" dir="16200000">
              <a:srgbClr val="22D3EE">
                <a:alpha val="60000"/>
              </a:srgbClr>
            </a:outerShdw>
          </a:effectLst>
        </p:spPr>
      </p:sp>
      <p:sp>
        <p:nvSpPr>
          <p:cNvPr id="18" name="Text 16"/>
          <p:cNvSpPr txBox="1"/>
          <p:nvPr/>
        </p:nvSpPr>
        <p:spPr>
          <a:xfrm>
            <a:off x="356616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h1</a:t>
            </a:r>
            <a:endParaRPr lang="en-US" sz="1400" dirty="0"/>
          </a:p>
        </p:txBody>
      </p:sp>
      <p:sp>
        <p:nvSpPr>
          <p:cNvPr id="19" name="Node h2"/>
          <p:cNvSpPr/>
          <p:nvPr/>
        </p:nvSpPr>
        <p:spPr>
          <a:xfrm>
            <a:off x="3566160" y="2377440"/>
            <a:ext cx="548640" cy="548640"/>
          </a:xfrm>
          <a:prstGeom prst="ellipse">
            <a:avLst/>
          </a:prstGeom>
          <a:solidFill>
            <a:schemeClr val="tx1"/>
          </a:solidFill>
          <a:ln w="22225">
            <a:solidFill>
              <a:schemeClr val="accent1"/>
            </a:solidFill>
            <a:prstDash val="solid"/>
          </a:ln>
          <a:effectLst>
            <a:outerShdw sx="100000" sy="100000" kx="0" ky="0" algn="bl" rotWithShape="0" blurRad="177800" dist="50800" dir="16200000">
              <a:srgbClr val="22D3EE">
                <a:alpha val="60000"/>
              </a:srgbClr>
            </a:outerShdw>
          </a:effectLst>
        </p:spPr>
      </p:sp>
      <p:sp>
        <p:nvSpPr>
          <p:cNvPr id="20" name="Text 18"/>
          <p:cNvSpPr txBox="1"/>
          <p:nvPr/>
        </p:nvSpPr>
        <p:spPr>
          <a:xfrm>
            <a:off x="3566160" y="23774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h2</a:t>
            </a:r>
            <a:endParaRPr lang="en-US" sz="1400" dirty="0"/>
          </a:p>
        </p:txBody>
      </p:sp>
      <p:sp>
        <p:nvSpPr>
          <p:cNvPr id="21" name="Node out"/>
          <p:cNvSpPr/>
          <p:nvPr/>
        </p:nvSpPr>
        <p:spPr>
          <a:xfrm>
            <a:off x="5669280" y="2011680"/>
            <a:ext cx="548640" cy="548640"/>
          </a:xfrm>
          <a:prstGeom prst="ellipse">
            <a:avLst/>
          </a:prstGeom>
          <a:solidFill>
            <a:schemeClr val="tx1"/>
          </a:solidFill>
          <a:ln w="22225">
            <a:solidFill>
              <a:schemeClr val="accent1"/>
            </a:solidFill>
            <a:prstDash val="solid"/>
          </a:ln>
          <a:effectLst>
            <a:outerShdw sx="100000" sy="100000" kx="0" ky="0" algn="bl" rotWithShape="0" blurRad="177800" dist="50800" dir="16200000">
              <a:srgbClr val="22D3EE">
                <a:alpha val="60000"/>
              </a:srgbClr>
            </a:outerShdw>
          </a:effectLst>
        </p:spPr>
      </p:sp>
      <p:sp>
        <p:nvSpPr>
          <p:cNvPr id="22" name="Text 20"/>
          <p:cNvSpPr txBox="1"/>
          <p:nvPr/>
        </p:nvSpPr>
        <p:spPr>
          <a:xfrm>
            <a:off x="5669280" y="20116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out</a:t>
            </a:r>
            <a:endParaRPr lang="en-US" sz="1400" dirty="0"/>
          </a:p>
        </p:txBody>
      </p:sp>
      <p:sp>
        <p:nvSpPr>
          <p:cNvPr id="23" name="Arrow to result"/>
          <p:cNvSpPr/>
          <p:nvPr/>
        </p:nvSpPr>
        <p:spPr>
          <a:xfrm>
            <a:off x="6309360" y="2176272"/>
            <a:ext cx="457200" cy="219456"/>
          </a:xfrm>
          <a:prstGeom prst="rightArrow">
            <a:avLst/>
          </a:prstGeom>
          <a:solidFill>
            <a:schemeClr val="accent1"/>
          </a:solidFill>
          <a:ln/>
        </p:spPr>
      </p:sp>
      <p:sp>
        <p:nvSpPr>
          <p:cNvPr id="24" name="Result chip"/>
          <p:cNvSpPr/>
          <p:nvPr/>
        </p:nvSpPr>
        <p:spPr>
          <a:xfrm>
            <a:off x="6858000" y="1828800"/>
            <a:ext cx="1554480" cy="914400"/>
          </a:xfrm>
          <a:prstGeom prst="roundRect">
            <a:avLst>
              <a:gd name="adj" fmla="val 10000"/>
            </a:avLst>
          </a:prstGeom>
          <a:solidFill>
            <a:schemeClr val="tx1"/>
          </a:solidFill>
          <a:ln w="15875">
            <a:solidFill>
              <a:schemeClr val="accent1"/>
            </a:solidFill>
            <a:prstDash val="solid"/>
          </a:ln>
          <a:effectLst>
            <a:outerShdw sx="100000" sy="100000" kx="0" ky="0" algn="bl" rotWithShape="0" blurRad="152400" dist="50800" dir="16200000">
              <a:srgbClr val="22D3EE">
                <a:alpha val="50000"/>
              </a:srgbClr>
            </a:outerShdw>
          </a:effectLst>
        </p:spPr>
      </p:sp>
      <p:sp>
        <p:nvSpPr>
          <p:cNvPr id="25" name="Text 23"/>
          <p:cNvSpPr txBox="1"/>
          <p:nvPr/>
        </p:nvSpPr>
        <p:spPr>
          <a:xfrm>
            <a:off x="6858000" y="1828800"/>
            <a:ext cx="1554480" cy="914400"/>
          </a:xfrm>
          <a:prstGeom prst="rect">
            <a:avLst/>
          </a:prstGeom>
          <a:noFill/>
          <a:ln/>
        </p:spPr>
        <p:txBody>
          <a:bodyPr wrap="square" lIns="0" tIns="0" rIns="0" bIns="0" rtlCol="0" anchor="ctr"/>
          <a:lstStyle/>
          <a:p>
            <a:pPr algn="ctr" indent="0" marL="0">
              <a:buNone/>
            </a:pPr>
            <a:r>
              <a:rPr lang="en-US" sz="2000" b="1" dirty="0">
                <a:solidFill>
                  <a:schemeClr val="accent1"/>
                </a:solidFill>
              </a:rPr>
              <a:t>0 to 1</a:t>
            </a:r>
            <a:endParaRPr lang="en-US" sz="1400" dirty="0"/>
          </a:p>
          <a:p>
            <a:pPr algn="ctr" indent="0" marL="0">
              <a:buNone/>
            </a:pPr>
            <a:r>
              <a:rPr lang="en-US" sz="1300" dirty="0">
                <a:solidFill>
                  <a:schemeClr val="bg2"/>
                </a:solidFill>
              </a:rPr>
              <a:t>after sigmoid</a:t>
            </a:r>
            <a:endParaRPr lang="en-US" sz="1400" dirty="0"/>
          </a:p>
        </p:txBody>
      </p:sp>
      <p:sp>
        <p:nvSpPr>
          <p:cNvPr id="26" name="Text 24"/>
          <p:cNvSpPr txBox="1"/>
          <p:nvPr/>
        </p:nvSpPr>
        <p:spPr>
          <a:xfrm>
            <a:off x="731520" y="2971800"/>
            <a:ext cx="5120640" cy="256032"/>
          </a:xfrm>
          <a:prstGeom prst="rect">
            <a:avLst/>
          </a:prstGeom>
          <a:noFill/>
          <a:ln/>
        </p:spPr>
        <p:txBody>
          <a:bodyPr wrap="square" lIns="0" tIns="0" rIns="0" bIns="0" rtlCol="0" anchor="t"/>
          <a:lstStyle/>
          <a:p>
            <a:pPr indent="0" marL="0">
              <a:buNone/>
            </a:pPr>
            <a:r>
              <a:rPr lang="en-US" sz="1200" i="1" dirty="0">
                <a:solidFill>
                  <a:schemeClr val="bg2"/>
                </a:solidFill>
              </a:rPr>
              <a:t>Each line carries a weight, a number the network adjusts</a:t>
            </a:r>
            <a:endParaRPr lang="en-US" sz="1200" dirty="0"/>
          </a:p>
        </p:txBody>
      </p:sp>
      <p:sp>
        <p:nvSpPr>
          <p:cNvPr id="27" name="Concept card 1"/>
          <p:cNvSpPr/>
          <p:nvPr/>
        </p:nvSpPr>
        <p:spPr>
          <a:xfrm>
            <a:off x="457200" y="3474720"/>
            <a:ext cx="2560320" cy="1188720"/>
          </a:xfrm>
          <a:prstGeom prst="roundRect">
            <a:avLst>
              <a:gd name="adj" fmla="val 9231"/>
            </a:avLst>
          </a:prstGeom>
          <a:solidFill>
            <a:schemeClr val="tx2"/>
          </a:solidFill>
          <a:ln w="9525">
            <a:solidFill>
              <a:schemeClr val="accent1">
                <a:alpha val="45000"/>
              </a:schemeClr>
            </a:solidFill>
            <a:prstDash val="solid"/>
          </a:ln>
        </p:spPr>
      </p:sp>
      <p:sp>
        <p:nvSpPr>
          <p:cNvPr id="28" name="Text 26"/>
          <p:cNvSpPr txBox="1"/>
          <p:nvPr/>
        </p:nvSpPr>
        <p:spPr>
          <a:xfrm>
            <a:off x="640080" y="3584448"/>
            <a:ext cx="2194560" cy="292608"/>
          </a:xfrm>
          <a:prstGeom prst="rect">
            <a:avLst/>
          </a:prstGeom>
          <a:noFill/>
          <a:ln/>
        </p:spPr>
        <p:txBody>
          <a:bodyPr wrap="square" lIns="0" tIns="0" rIns="0" bIns="0" rtlCol="0" anchor="t"/>
          <a:lstStyle/>
          <a:p>
            <a:pPr indent="0" marL="0">
              <a:buNone/>
            </a:pPr>
            <a:r>
              <a:rPr lang="en-US" sz="1600" b="1" dirty="0">
                <a:solidFill>
                  <a:schemeClr val="accent1"/>
                </a:solidFill>
              </a:rPr>
              <a:t>Weights</a:t>
            </a:r>
            <a:endParaRPr lang="en-US" sz="1600" dirty="0"/>
          </a:p>
        </p:txBody>
      </p:sp>
      <p:sp>
        <p:nvSpPr>
          <p:cNvPr id="29" name="Text 27"/>
          <p:cNvSpPr txBox="1"/>
          <p:nvPr/>
        </p:nvSpPr>
        <p:spPr>
          <a:xfrm>
            <a:off x="640080" y="3913632"/>
            <a:ext cx="2194560" cy="640080"/>
          </a:xfrm>
          <a:prstGeom prst="rect">
            <a:avLst/>
          </a:prstGeom>
          <a:noFill/>
          <a:ln/>
        </p:spPr>
        <p:txBody>
          <a:bodyPr wrap="square" lIns="0" tIns="0" rIns="0" bIns="0" rtlCol="0" anchor="t"/>
          <a:lstStyle/>
          <a:p>
            <a:pPr indent="0" marL="0">
              <a:buNone/>
            </a:pPr>
            <a:r>
              <a:rPr lang="en-US" sz="1400" dirty="0">
                <a:solidFill>
                  <a:schemeClr val="bg1"/>
                </a:solidFill>
              </a:rPr>
              <a:t>Numbers that training adjusts to reduce error.</a:t>
            </a:r>
            <a:endParaRPr lang="en-US" sz="1400" dirty="0"/>
          </a:p>
        </p:txBody>
      </p:sp>
      <p:sp>
        <p:nvSpPr>
          <p:cNvPr id="30" name="Concept card 2"/>
          <p:cNvSpPr/>
          <p:nvPr/>
        </p:nvSpPr>
        <p:spPr>
          <a:xfrm>
            <a:off x="3291840" y="3474720"/>
            <a:ext cx="2560320" cy="1188720"/>
          </a:xfrm>
          <a:prstGeom prst="roundRect">
            <a:avLst>
              <a:gd name="adj" fmla="val 9231"/>
            </a:avLst>
          </a:prstGeom>
          <a:solidFill>
            <a:schemeClr val="tx2"/>
          </a:solidFill>
          <a:ln w="9525">
            <a:solidFill>
              <a:schemeClr val="accent1">
                <a:alpha val="45000"/>
              </a:schemeClr>
            </a:solidFill>
            <a:prstDash val="solid"/>
          </a:ln>
        </p:spPr>
      </p:sp>
      <p:sp>
        <p:nvSpPr>
          <p:cNvPr id="31" name="Text 29"/>
          <p:cNvSpPr txBox="1"/>
          <p:nvPr/>
        </p:nvSpPr>
        <p:spPr>
          <a:xfrm>
            <a:off x="3474720" y="3584448"/>
            <a:ext cx="2194560" cy="292608"/>
          </a:xfrm>
          <a:prstGeom prst="rect">
            <a:avLst/>
          </a:prstGeom>
          <a:noFill/>
          <a:ln/>
        </p:spPr>
        <p:txBody>
          <a:bodyPr wrap="square" lIns="0" tIns="0" rIns="0" bIns="0" rtlCol="0" anchor="t"/>
          <a:lstStyle/>
          <a:p>
            <a:pPr indent="0" marL="0">
              <a:buNone/>
            </a:pPr>
            <a:r>
              <a:rPr lang="en-US" sz="1600" b="1" dirty="0">
                <a:solidFill>
                  <a:schemeClr val="accent1"/>
                </a:solidFill>
              </a:rPr>
              <a:t>Hidden neurons</a:t>
            </a:r>
            <a:endParaRPr lang="en-US" sz="1600" dirty="0"/>
          </a:p>
        </p:txBody>
      </p:sp>
      <p:sp>
        <p:nvSpPr>
          <p:cNvPr id="32" name="Text 30"/>
          <p:cNvSpPr txBox="1"/>
          <p:nvPr/>
        </p:nvSpPr>
        <p:spPr>
          <a:xfrm>
            <a:off x="3474720" y="3913632"/>
            <a:ext cx="2194560" cy="640080"/>
          </a:xfrm>
          <a:prstGeom prst="rect">
            <a:avLst/>
          </a:prstGeom>
          <a:noFill/>
          <a:ln/>
        </p:spPr>
        <p:txBody>
          <a:bodyPr wrap="square" lIns="0" tIns="0" rIns="0" bIns="0" rtlCol="0" anchor="t"/>
          <a:lstStyle/>
          <a:p>
            <a:pPr indent="0" marL="0">
              <a:buNone/>
            </a:pPr>
            <a:r>
              <a:rPr lang="en-US" sz="1400" dirty="0">
                <a:solidFill>
                  <a:schemeClr val="bg1"/>
                </a:solidFill>
              </a:rPr>
              <a:t>Small units that combine the inputs.</a:t>
            </a:r>
            <a:endParaRPr lang="en-US" sz="1400" dirty="0"/>
          </a:p>
        </p:txBody>
      </p:sp>
      <p:sp>
        <p:nvSpPr>
          <p:cNvPr id="33" name="Concept card 3"/>
          <p:cNvSpPr/>
          <p:nvPr/>
        </p:nvSpPr>
        <p:spPr>
          <a:xfrm>
            <a:off x="6126480" y="3474720"/>
            <a:ext cx="2560320" cy="1188720"/>
          </a:xfrm>
          <a:prstGeom prst="roundRect">
            <a:avLst>
              <a:gd name="adj" fmla="val 9231"/>
            </a:avLst>
          </a:prstGeom>
          <a:solidFill>
            <a:schemeClr val="tx2"/>
          </a:solidFill>
          <a:ln w="9525">
            <a:solidFill>
              <a:schemeClr val="accent1">
                <a:alpha val="45000"/>
              </a:schemeClr>
            </a:solidFill>
            <a:prstDash val="solid"/>
          </a:ln>
        </p:spPr>
      </p:sp>
      <p:sp>
        <p:nvSpPr>
          <p:cNvPr id="34" name="Text 32"/>
          <p:cNvSpPr txBox="1"/>
          <p:nvPr/>
        </p:nvSpPr>
        <p:spPr>
          <a:xfrm>
            <a:off x="6309360" y="3584448"/>
            <a:ext cx="2194560" cy="292608"/>
          </a:xfrm>
          <a:prstGeom prst="rect">
            <a:avLst/>
          </a:prstGeom>
          <a:noFill/>
          <a:ln/>
        </p:spPr>
        <p:txBody>
          <a:bodyPr wrap="square" lIns="0" tIns="0" rIns="0" bIns="0" rtlCol="0" anchor="t"/>
          <a:lstStyle/>
          <a:p>
            <a:pPr indent="0" marL="0">
              <a:buNone/>
            </a:pPr>
            <a:r>
              <a:rPr lang="en-US" sz="1600" b="1" dirty="0">
                <a:solidFill>
                  <a:schemeClr val="accent1"/>
                </a:solidFill>
              </a:rPr>
              <a:t>Sigmoid</a:t>
            </a:r>
            <a:endParaRPr lang="en-US" sz="1600" dirty="0"/>
          </a:p>
        </p:txBody>
      </p:sp>
      <p:sp>
        <p:nvSpPr>
          <p:cNvPr id="35" name="Text 33"/>
          <p:cNvSpPr txBox="1"/>
          <p:nvPr/>
        </p:nvSpPr>
        <p:spPr>
          <a:xfrm>
            <a:off x="6309360" y="3913632"/>
            <a:ext cx="2194560" cy="640080"/>
          </a:xfrm>
          <a:prstGeom prst="rect">
            <a:avLst/>
          </a:prstGeom>
          <a:noFill/>
          <a:ln/>
        </p:spPr>
        <p:txBody>
          <a:bodyPr wrap="square" lIns="0" tIns="0" rIns="0" bIns="0" rtlCol="0" anchor="t"/>
          <a:lstStyle/>
          <a:p>
            <a:pPr indent="0" marL="0">
              <a:buNone/>
            </a:pPr>
            <a:r>
              <a:rPr lang="en-US" sz="1400" dirty="0">
                <a:solidFill>
                  <a:schemeClr val="bg1"/>
                </a:solidFill>
              </a:rPr>
              <a:t>Turns the output into a value from 0 to 1.</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Training and loss</a:t>
            </a:r>
            <a:endParaRPr lang="en-US" sz="3400" dirty="0"/>
          </a:p>
        </p:txBody>
      </p:sp>
      <p:sp>
        <p:nvSpPr>
          <p:cNvPr id="3" name="Epoch card"/>
          <p:cNvSpPr/>
          <p:nvPr/>
        </p:nvSpPr>
        <p:spPr>
          <a:xfrm>
            <a:off x="457200" y="1188720"/>
            <a:ext cx="3931920" cy="1280160"/>
          </a:xfrm>
          <a:prstGeom prst="roundRect">
            <a:avLst>
              <a:gd name="adj" fmla="val 8571"/>
            </a:avLst>
          </a:prstGeom>
          <a:solidFill>
            <a:schemeClr val="tx2"/>
          </a:solidFill>
          <a:ln w="9525">
            <a:solidFill>
              <a:schemeClr val="accent1">
                <a:alpha val="45000"/>
              </a:schemeClr>
            </a:solidFill>
            <a:prstDash val="solid"/>
          </a:ln>
        </p:spPr>
      </p:sp>
      <p:sp>
        <p:nvSpPr>
          <p:cNvPr id="4" name="Epoch icon circle"/>
          <p:cNvSpPr/>
          <p:nvPr/>
        </p:nvSpPr>
        <p:spPr>
          <a:xfrm>
            <a:off x="640080" y="1463040"/>
            <a:ext cx="548640" cy="548640"/>
          </a:xfrm>
          <a:prstGeom prst="ellipse">
            <a:avLst/>
          </a:prstGeom>
          <a:solidFill>
            <a:schemeClr val="tx1"/>
          </a:solidFill>
          <a:ln w="12700">
            <a:solidFill>
              <a:schemeClr val="accent1"/>
            </a:solidFill>
            <a:prstDash val="solid"/>
          </a:ln>
        </p:spPr>
      </p:sp>
      <p:pic>
        <p:nvPicPr>
          <p:cNvPr id="5" name="Image 0" descr="Cycle icon">    </p:cNvPr>
          <p:cNvPicPr>
            <a:picLocks noChangeAspect="1"/>
          </p:cNvPicPr>
          <p:nvPr/>
        </p:nvPicPr>
        <p:blipFill>
          <a:blip r:embed="rId1"/>
          <a:stretch>
            <a:fillRect/>
          </a:stretch>
        </p:blipFill>
        <p:spPr>
          <a:xfrm>
            <a:off x="758952" y="1581912"/>
            <a:ext cx="310896" cy="310896"/>
          </a:xfrm>
          <a:prstGeom prst="rect">
            <a:avLst/>
          </a:prstGeom>
        </p:spPr>
      </p:pic>
      <p:sp>
        <p:nvSpPr>
          <p:cNvPr id="6" name="Text 3"/>
          <p:cNvSpPr txBox="1"/>
          <p:nvPr/>
        </p:nvSpPr>
        <p:spPr>
          <a:xfrm>
            <a:off x="1371600" y="1325880"/>
            <a:ext cx="2834640" cy="1005840"/>
          </a:xfrm>
          <a:prstGeom prst="rect">
            <a:avLst/>
          </a:prstGeom>
          <a:noFill/>
          <a:ln/>
        </p:spPr>
        <p:txBody>
          <a:bodyPr wrap="square" lIns="0" tIns="0" rIns="0" bIns="0" rtlCol="0" anchor="ctr"/>
          <a:lstStyle/>
          <a:p>
            <a:pPr indent="0" marL="0">
              <a:buNone/>
            </a:pPr>
            <a:r>
              <a:rPr lang="en-US" sz="1800" b="1" dirty="0">
                <a:solidFill>
                  <a:schemeClr val="accent1"/>
                </a:solidFill>
              </a:rPr>
              <a:t>Epoch</a:t>
            </a:r>
            <a:endParaRPr lang="en-US" sz="1400" dirty="0"/>
          </a:p>
          <a:p>
            <a:pPr indent="0" marL="0">
              <a:buNone/>
            </a:pPr>
            <a:r>
              <a:rPr lang="en-US" sz="1400" dirty="0">
                <a:solidFill>
                  <a:schemeClr val="bg1"/>
                </a:solidFill>
              </a:rPr>
              <a:t>One full pass through the training examples.</a:t>
            </a:r>
            <a:endParaRPr lang="en-US" sz="1400" dirty="0"/>
          </a:p>
        </p:txBody>
      </p:sp>
      <p:sp>
        <p:nvSpPr>
          <p:cNvPr id="7" name="Loss card"/>
          <p:cNvSpPr/>
          <p:nvPr/>
        </p:nvSpPr>
        <p:spPr>
          <a:xfrm>
            <a:off x="457200" y="2651760"/>
            <a:ext cx="3931920" cy="1783080"/>
          </a:xfrm>
          <a:prstGeom prst="roundRect">
            <a:avLst>
              <a:gd name="adj" fmla="val 6154"/>
            </a:avLst>
          </a:prstGeom>
          <a:solidFill>
            <a:schemeClr val="tx2"/>
          </a:solidFill>
          <a:ln w="9525">
            <a:solidFill>
              <a:schemeClr val="accent1">
                <a:alpha val="45000"/>
              </a:schemeClr>
            </a:solidFill>
            <a:prstDash val="solid"/>
          </a:ln>
        </p:spPr>
      </p:sp>
      <p:sp>
        <p:nvSpPr>
          <p:cNvPr id="8" name="Text 5"/>
          <p:cNvSpPr txBox="1"/>
          <p:nvPr/>
        </p:nvSpPr>
        <p:spPr>
          <a:xfrm>
            <a:off x="685800" y="2788920"/>
            <a:ext cx="3474720" cy="1508760"/>
          </a:xfrm>
          <a:prstGeom prst="rect">
            <a:avLst/>
          </a:prstGeom>
          <a:noFill/>
          <a:ln/>
        </p:spPr>
        <p:txBody>
          <a:bodyPr wrap="square" lIns="0" tIns="0" rIns="0" bIns="0" rtlCol="0" anchor="ctr"/>
          <a:lstStyle/>
          <a:p>
            <a:pPr indent="0" marL="0">
              <a:spcAft>
                <a:spcPts val="800"/>
              </a:spcAft>
              <a:buNone/>
            </a:pPr>
            <a:r>
              <a:rPr lang="en-US" sz="1800" b="1" dirty="0">
                <a:solidFill>
                  <a:schemeClr val="accent1"/>
                </a:solidFill>
              </a:rPr>
              <a:t>Loss</a:t>
            </a:r>
            <a:endParaRPr lang="en-US" sz="1600" dirty="0"/>
          </a:p>
          <a:p>
            <a:pPr indent="0" marL="0">
              <a:spcAft>
                <a:spcPts val="800"/>
              </a:spcAft>
              <a:buNone/>
            </a:pPr>
            <a:r>
              <a:rPr lang="en-US" sz="1600" dirty="0">
                <a:solidFill>
                  <a:schemeClr val="bg1"/>
                </a:solidFill>
              </a:rPr>
              <a:t>A number that measures prediction error.</a:t>
            </a:r>
            <a:endParaRPr lang="en-US" sz="1600" dirty="0"/>
          </a:p>
          <a:p>
            <a:pPr indent="0" marL="0">
              <a:spcAft>
                <a:spcPts val="800"/>
              </a:spcAft>
              <a:buNone/>
            </a:pPr>
            <a:r>
              <a:rPr lang="en-US" sz="1600" dirty="0">
                <a:solidFill>
                  <a:schemeClr val="bg2"/>
                </a:solidFill>
              </a:rPr>
              <a:t>Lower loss generally means the model fits these examples better.</a:t>
            </a:r>
            <a:endParaRPr lang="en-US" sz="1600" dirty="0"/>
          </a:p>
        </p:txBody>
      </p:sp>
      <p:sp>
        <p:nvSpPr>
          <p:cNvPr id="9" name="Chart card"/>
          <p:cNvSpPr/>
          <p:nvPr/>
        </p:nvSpPr>
        <p:spPr>
          <a:xfrm>
            <a:off x="4663440" y="1188720"/>
            <a:ext cx="4023360" cy="2560320"/>
          </a:xfrm>
          <a:prstGeom prst="roundRect">
            <a:avLst>
              <a:gd name="adj" fmla="val 4286"/>
            </a:avLst>
          </a:prstGeom>
          <a:solidFill>
            <a:schemeClr val="tx2"/>
          </a:solidFill>
          <a:ln w="9525">
            <a:solidFill>
              <a:schemeClr val="accent1">
                <a:alpha val="45000"/>
              </a:schemeClr>
            </a:solidFill>
            <a:prstDash val="solid"/>
          </a:ln>
          <a:effectLst>
            <a:outerShdw sx="100000" sy="100000" kx="0" ky="0" algn="bl" rotWithShape="0" blurRad="177800" dist="50800" dir="16200000">
              <a:srgbClr val="22D3EE">
                <a:alpha val="45000"/>
              </a:srgbClr>
            </a:outerShdw>
          </a:effectLst>
        </p:spPr>
      </p:sp>
      <p:pic>
        <p:nvPicPr>
          <p:cNvPr id="10" name="Image 1" descr="Schematic of a loss curve that slopes downward">    </p:cNvPr>
          <p:cNvPicPr>
            <a:picLocks noChangeAspect="1"/>
          </p:cNvPicPr>
          <p:nvPr/>
        </p:nvPicPr>
        <p:blipFill>
          <a:blip r:embed="rId2"/>
          <a:stretch>
            <a:fillRect/>
          </a:stretch>
        </p:blipFill>
        <p:spPr>
          <a:xfrm>
            <a:off x="4754880" y="1280160"/>
            <a:ext cx="3840480" cy="2212848"/>
          </a:xfrm>
          <a:prstGeom prst="rect">
            <a:avLst/>
          </a:prstGeom>
        </p:spPr>
      </p:pic>
      <p:sp>
        <p:nvSpPr>
          <p:cNvPr id="11" name="Text 7"/>
          <p:cNvSpPr txBox="1"/>
          <p:nvPr/>
        </p:nvSpPr>
        <p:spPr>
          <a:xfrm>
            <a:off x="4754880" y="3474720"/>
            <a:ext cx="3840480" cy="228600"/>
          </a:xfrm>
          <a:prstGeom prst="rect">
            <a:avLst/>
          </a:prstGeom>
          <a:noFill/>
          <a:ln/>
        </p:spPr>
        <p:txBody>
          <a:bodyPr wrap="square" lIns="0" tIns="0" rIns="0" bIns="0" rtlCol="0" anchor="t"/>
          <a:lstStyle/>
          <a:p>
            <a:pPr algn="ctr" indent="0" marL="0">
              <a:buNone/>
            </a:pPr>
            <a:r>
              <a:rPr lang="en-US" sz="1100" i="1" dirty="0">
                <a:solidFill>
                  <a:schemeClr val="bg2"/>
                </a:solidFill>
              </a:rPr>
              <a:t>Schematic of the live loss chart (not real results)</a:t>
            </a:r>
            <a:endParaRPr lang="en-US" sz="1100" dirty="0"/>
          </a:p>
        </p:txBody>
      </p:sp>
      <p:sp>
        <p:nvSpPr>
          <p:cNvPr id="12" name="Takeaway card"/>
          <p:cNvSpPr/>
          <p:nvPr/>
        </p:nvSpPr>
        <p:spPr>
          <a:xfrm>
            <a:off x="4663440" y="3931920"/>
            <a:ext cx="4023360" cy="731520"/>
          </a:xfrm>
          <a:prstGeom prst="roundRect">
            <a:avLst>
              <a:gd name="adj" fmla="val 15000"/>
            </a:avLst>
          </a:prstGeom>
          <a:solidFill>
            <a:schemeClr val="tx2"/>
          </a:solidFill>
          <a:ln w="9525">
            <a:solidFill>
              <a:schemeClr val="accent1">
                <a:alpha val="45000"/>
              </a:schemeClr>
            </a:solidFill>
            <a:prstDash val="solid"/>
          </a:ln>
        </p:spPr>
      </p:sp>
      <p:sp>
        <p:nvSpPr>
          <p:cNvPr id="13" name="Text 9"/>
          <p:cNvSpPr txBox="1"/>
          <p:nvPr/>
        </p:nvSpPr>
        <p:spPr>
          <a:xfrm>
            <a:off x="4846320" y="3931920"/>
            <a:ext cx="3657600" cy="731520"/>
          </a:xfrm>
          <a:prstGeom prst="rect">
            <a:avLst/>
          </a:prstGeom>
          <a:noFill/>
          <a:ln/>
        </p:spPr>
        <p:txBody>
          <a:bodyPr wrap="square" lIns="0" tIns="0" rIns="0" bIns="0" rtlCol="0" anchor="ctr"/>
          <a:lstStyle/>
          <a:p>
            <a:pPr indent="0" marL="0">
              <a:buNone/>
            </a:pPr>
            <a:r>
              <a:rPr lang="en-US" sz="1400" dirty="0">
                <a:solidFill>
                  <a:schemeClr val="bg1"/>
                </a:solidFill>
              </a:rPr>
              <a:t>A downward curve means the loss is shrinking as training goes 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Understanding the prediction</a:t>
            </a:r>
            <a:endParaRPr lang="en-US" sz="3400" dirty="0"/>
          </a:p>
        </p:txBody>
      </p:sp>
      <p:sp>
        <p:nvSpPr>
          <p:cNvPr id="3" name="Step card 1"/>
          <p:cNvSpPr/>
          <p:nvPr/>
        </p:nvSpPr>
        <p:spPr>
          <a:xfrm>
            <a:off x="457200" y="1188720"/>
            <a:ext cx="2377440" cy="1051560"/>
          </a:xfrm>
          <a:prstGeom prst="roundRect">
            <a:avLst>
              <a:gd name="adj" fmla="val 10435"/>
            </a:avLst>
          </a:prstGeom>
          <a:solidFill>
            <a:schemeClr val="tx2"/>
          </a:solidFill>
          <a:ln w="9525">
            <a:solidFill>
              <a:schemeClr val="accent1">
                <a:alpha val="45000"/>
              </a:schemeClr>
            </a:solidFill>
            <a:prstDash val="solid"/>
          </a:ln>
        </p:spPr>
      </p:sp>
      <p:sp>
        <p:nvSpPr>
          <p:cNvPr id="4" name="Text 2"/>
          <p:cNvSpPr txBox="1"/>
          <p:nvPr/>
        </p:nvSpPr>
        <p:spPr>
          <a:xfrm>
            <a:off x="594360" y="1280160"/>
            <a:ext cx="2103120" cy="320040"/>
          </a:xfrm>
          <a:prstGeom prst="rect">
            <a:avLst/>
          </a:prstGeom>
          <a:noFill/>
          <a:ln/>
        </p:spPr>
        <p:txBody>
          <a:bodyPr wrap="square" lIns="0" tIns="0" rIns="0" bIns="0" rtlCol="0" anchor="t"/>
          <a:lstStyle/>
          <a:p>
            <a:pPr algn="ctr" indent="0" marL="0">
              <a:buNone/>
            </a:pPr>
            <a:r>
              <a:rPr lang="en-US" sz="1500" b="1" dirty="0">
                <a:solidFill>
                  <a:schemeClr val="accent1"/>
                </a:solidFill>
              </a:rPr>
              <a:t>Enter two numbers</a:t>
            </a:r>
            <a:endParaRPr lang="en-US" sz="1500" dirty="0"/>
          </a:p>
        </p:txBody>
      </p:sp>
      <p:sp>
        <p:nvSpPr>
          <p:cNvPr id="5" name="Text 3"/>
          <p:cNvSpPr txBox="1"/>
          <p:nvPr/>
        </p:nvSpPr>
        <p:spPr>
          <a:xfrm>
            <a:off x="594360" y="1645920"/>
            <a:ext cx="2103120" cy="457200"/>
          </a:xfrm>
          <a:prstGeom prst="rect">
            <a:avLst/>
          </a:prstGeom>
          <a:noFill/>
          <a:ln/>
        </p:spPr>
        <p:txBody>
          <a:bodyPr wrap="square" lIns="0" tIns="0" rIns="0" bIns="0" rtlCol="0" anchor="t"/>
          <a:lstStyle/>
          <a:p>
            <a:pPr algn="ctr" indent="0" marL="0">
              <a:buNone/>
            </a:pPr>
            <a:r>
              <a:rPr lang="en-US" sz="1400" dirty="0">
                <a:solidFill>
                  <a:schemeClr val="bg1"/>
                </a:solidFill>
              </a:rPr>
              <a:t>Type your own input values</a:t>
            </a:r>
            <a:endParaRPr lang="en-US" sz="1400" dirty="0"/>
          </a:p>
        </p:txBody>
      </p:sp>
      <p:sp>
        <p:nvSpPr>
          <p:cNvPr id="6" name="Flow arrow"/>
          <p:cNvSpPr/>
          <p:nvPr/>
        </p:nvSpPr>
        <p:spPr>
          <a:xfrm>
            <a:off x="2926080" y="1609344"/>
            <a:ext cx="365760" cy="201168"/>
          </a:xfrm>
          <a:prstGeom prst="rightArrow">
            <a:avLst/>
          </a:prstGeom>
          <a:solidFill>
            <a:schemeClr val="accent1"/>
          </a:solidFill>
          <a:ln/>
        </p:spPr>
      </p:sp>
      <p:sp>
        <p:nvSpPr>
          <p:cNvPr id="7" name="Step card 2"/>
          <p:cNvSpPr/>
          <p:nvPr/>
        </p:nvSpPr>
        <p:spPr>
          <a:xfrm>
            <a:off x="3383280" y="1188720"/>
            <a:ext cx="2377440" cy="1051560"/>
          </a:xfrm>
          <a:prstGeom prst="roundRect">
            <a:avLst>
              <a:gd name="adj" fmla="val 10435"/>
            </a:avLst>
          </a:prstGeom>
          <a:solidFill>
            <a:schemeClr val="tx2"/>
          </a:solidFill>
          <a:ln w="9525">
            <a:solidFill>
              <a:schemeClr val="accent1">
                <a:alpha val="45000"/>
              </a:schemeClr>
            </a:solidFill>
            <a:prstDash val="solid"/>
          </a:ln>
        </p:spPr>
      </p:sp>
      <p:sp>
        <p:nvSpPr>
          <p:cNvPr id="8" name="Text 6"/>
          <p:cNvSpPr txBox="1"/>
          <p:nvPr/>
        </p:nvSpPr>
        <p:spPr>
          <a:xfrm>
            <a:off x="3520440" y="1280160"/>
            <a:ext cx="2103120" cy="320040"/>
          </a:xfrm>
          <a:prstGeom prst="rect">
            <a:avLst/>
          </a:prstGeom>
          <a:noFill/>
          <a:ln/>
        </p:spPr>
        <p:txBody>
          <a:bodyPr wrap="square" lIns="0" tIns="0" rIns="0" bIns="0" rtlCol="0" anchor="t"/>
          <a:lstStyle/>
          <a:p>
            <a:pPr algn="ctr" indent="0" marL="0">
              <a:buNone/>
            </a:pPr>
            <a:r>
              <a:rPr lang="en-US" sz="1500" b="1" dirty="0">
                <a:solidFill>
                  <a:schemeClr val="accent1"/>
                </a:solidFill>
              </a:rPr>
              <a:t>Network computes</a:t>
            </a:r>
            <a:endParaRPr lang="en-US" sz="1500" dirty="0"/>
          </a:p>
        </p:txBody>
      </p:sp>
      <p:sp>
        <p:nvSpPr>
          <p:cNvPr id="9" name="Text 7"/>
          <p:cNvSpPr txBox="1"/>
          <p:nvPr/>
        </p:nvSpPr>
        <p:spPr>
          <a:xfrm>
            <a:off x="3520440" y="1645920"/>
            <a:ext cx="2103120" cy="457200"/>
          </a:xfrm>
          <a:prstGeom prst="rect">
            <a:avLst/>
          </a:prstGeom>
          <a:noFill/>
          <a:ln/>
        </p:spPr>
        <p:txBody>
          <a:bodyPr wrap="square" lIns="0" tIns="0" rIns="0" bIns="0" rtlCol="0" anchor="t"/>
          <a:lstStyle/>
          <a:p>
            <a:pPr algn="ctr" indent="0" marL="0">
              <a:buNone/>
            </a:pPr>
            <a:r>
              <a:rPr lang="en-US" sz="1400" dirty="0">
                <a:solidFill>
                  <a:schemeClr val="bg1"/>
                </a:solidFill>
              </a:rPr>
              <a:t>Passes them through the weights</a:t>
            </a:r>
            <a:endParaRPr lang="en-US" sz="1400" dirty="0"/>
          </a:p>
        </p:txBody>
      </p:sp>
      <p:sp>
        <p:nvSpPr>
          <p:cNvPr id="10" name="Flow arrow"/>
          <p:cNvSpPr/>
          <p:nvPr/>
        </p:nvSpPr>
        <p:spPr>
          <a:xfrm>
            <a:off x="5852160" y="1609344"/>
            <a:ext cx="365760" cy="201168"/>
          </a:xfrm>
          <a:prstGeom prst="rightArrow">
            <a:avLst/>
          </a:prstGeom>
          <a:solidFill>
            <a:schemeClr val="accent1"/>
          </a:solidFill>
          <a:ln/>
        </p:spPr>
      </p:sp>
      <p:sp>
        <p:nvSpPr>
          <p:cNvPr id="11" name="Step card 3"/>
          <p:cNvSpPr/>
          <p:nvPr/>
        </p:nvSpPr>
        <p:spPr>
          <a:xfrm>
            <a:off x="6309360" y="1188720"/>
            <a:ext cx="2377440" cy="1051560"/>
          </a:xfrm>
          <a:prstGeom prst="roundRect">
            <a:avLst>
              <a:gd name="adj" fmla="val 10435"/>
            </a:avLst>
          </a:prstGeom>
          <a:solidFill>
            <a:schemeClr val="tx2"/>
          </a:solidFill>
          <a:ln w="9525">
            <a:solidFill>
              <a:schemeClr val="accent1">
                <a:alpha val="45000"/>
              </a:schemeClr>
            </a:solidFill>
            <a:prstDash val="solid"/>
          </a:ln>
        </p:spPr>
      </p:sp>
      <p:sp>
        <p:nvSpPr>
          <p:cNvPr id="12" name="Text 10"/>
          <p:cNvSpPr txBox="1"/>
          <p:nvPr/>
        </p:nvSpPr>
        <p:spPr>
          <a:xfrm>
            <a:off x="6446520" y="1280160"/>
            <a:ext cx="2103120" cy="320040"/>
          </a:xfrm>
          <a:prstGeom prst="rect">
            <a:avLst/>
          </a:prstGeom>
          <a:noFill/>
          <a:ln/>
        </p:spPr>
        <p:txBody>
          <a:bodyPr wrap="square" lIns="0" tIns="0" rIns="0" bIns="0" rtlCol="0" anchor="t"/>
          <a:lstStyle/>
          <a:p>
            <a:pPr algn="ctr" indent="0" marL="0">
              <a:buNone/>
            </a:pPr>
            <a:r>
              <a:rPr lang="en-US" sz="1500" b="1" dirty="0">
                <a:solidFill>
                  <a:schemeClr val="accent1"/>
                </a:solidFill>
              </a:rPr>
              <a:t>Probability of Class 1</a:t>
            </a:r>
            <a:endParaRPr lang="en-US" sz="1500" dirty="0"/>
          </a:p>
        </p:txBody>
      </p:sp>
      <p:sp>
        <p:nvSpPr>
          <p:cNvPr id="13" name="Text 11"/>
          <p:cNvSpPr txBox="1"/>
          <p:nvPr/>
        </p:nvSpPr>
        <p:spPr>
          <a:xfrm>
            <a:off x="6446520" y="1645920"/>
            <a:ext cx="2103120" cy="457200"/>
          </a:xfrm>
          <a:prstGeom prst="rect">
            <a:avLst/>
          </a:prstGeom>
          <a:noFill/>
          <a:ln/>
        </p:spPr>
        <p:txBody>
          <a:bodyPr wrap="square" lIns="0" tIns="0" rIns="0" bIns="0" rtlCol="0" anchor="t"/>
          <a:lstStyle/>
          <a:p>
            <a:pPr algn="ctr" indent="0" marL="0">
              <a:buNone/>
            </a:pPr>
            <a:r>
              <a:rPr lang="en-US" sz="1400" dirty="0">
                <a:solidFill>
                  <a:schemeClr val="bg1"/>
                </a:solidFill>
              </a:rPr>
              <a:t>A value between 0% and 100%</a:t>
            </a:r>
            <a:endParaRPr lang="en-US" sz="1400" dirty="0"/>
          </a:p>
        </p:txBody>
      </p:sp>
      <p:sp>
        <p:nvSpPr>
          <p:cNvPr id="14" name="Text 12"/>
          <p:cNvSpPr txBox="1"/>
          <p:nvPr/>
        </p:nvSpPr>
        <p:spPr>
          <a:xfrm>
            <a:off x="822960" y="2606040"/>
            <a:ext cx="2743200" cy="256032"/>
          </a:xfrm>
          <a:prstGeom prst="rect">
            <a:avLst/>
          </a:prstGeom>
          <a:noFill/>
          <a:ln/>
        </p:spPr>
        <p:txBody>
          <a:bodyPr wrap="square" lIns="0" tIns="0" rIns="0" bIns="0" rtlCol="0" anchor="t"/>
          <a:lstStyle/>
          <a:p>
            <a:pPr indent="0" marL="0">
              <a:buNone/>
            </a:pPr>
            <a:r>
              <a:rPr lang="en-US" sz="1400" dirty="0">
                <a:solidFill>
                  <a:schemeClr val="bg2"/>
                </a:solidFill>
              </a:rPr>
              <a:t>Probability of Class 1</a:t>
            </a:r>
            <a:endParaRPr lang="en-US" sz="1400" dirty="0"/>
          </a:p>
        </p:txBody>
      </p:sp>
      <p:sp>
        <p:nvSpPr>
          <p:cNvPr id="15" name="Text 13"/>
          <p:cNvSpPr txBox="1"/>
          <p:nvPr/>
        </p:nvSpPr>
        <p:spPr>
          <a:xfrm>
            <a:off x="3657600" y="2606040"/>
            <a:ext cx="1828800" cy="256032"/>
          </a:xfrm>
          <a:prstGeom prst="rect">
            <a:avLst/>
          </a:prstGeom>
          <a:noFill/>
          <a:ln/>
        </p:spPr>
        <p:txBody>
          <a:bodyPr wrap="square" lIns="0" tIns="0" rIns="0" bIns="0" rtlCol="0" anchor="t"/>
          <a:lstStyle/>
          <a:p>
            <a:pPr algn="ctr" indent="0" marL="0">
              <a:buNone/>
            </a:pPr>
            <a:r>
              <a:rPr lang="en-US" sz="1400" b="1" dirty="0">
                <a:solidFill>
                  <a:schemeClr val="bg1"/>
                </a:solidFill>
              </a:rPr>
              <a:t>50% cutoff</a:t>
            </a:r>
            <a:endParaRPr lang="en-US" sz="1400" dirty="0"/>
          </a:p>
        </p:txBody>
      </p:sp>
      <p:sp>
        <p:nvSpPr>
          <p:cNvPr id="16" name="Class 0 half"/>
          <p:cNvSpPr/>
          <p:nvPr/>
        </p:nvSpPr>
        <p:spPr>
          <a:xfrm>
            <a:off x="822960" y="2926080"/>
            <a:ext cx="3749040" cy="411480"/>
          </a:xfrm>
          <a:prstGeom prst="rect">
            <a:avLst/>
          </a:prstGeom>
          <a:solidFill>
            <a:schemeClr val="accent5"/>
          </a:solidFill>
          <a:ln/>
        </p:spPr>
      </p:sp>
      <p:sp>
        <p:nvSpPr>
          <p:cNvPr id="17" name="Class 1 half"/>
          <p:cNvSpPr/>
          <p:nvPr/>
        </p:nvSpPr>
        <p:spPr>
          <a:xfrm>
            <a:off x="4572000" y="2926080"/>
            <a:ext cx="3749040" cy="411480"/>
          </a:xfrm>
          <a:prstGeom prst="rect">
            <a:avLst/>
          </a:prstGeom>
          <a:solidFill>
            <a:schemeClr val="accent1"/>
          </a:solidFill>
          <a:ln/>
        </p:spPr>
      </p:sp>
      <p:sp>
        <p:nvSpPr>
          <p:cNvPr id="18" name="Text 16"/>
          <p:cNvSpPr txBox="1"/>
          <p:nvPr/>
        </p:nvSpPr>
        <p:spPr>
          <a:xfrm>
            <a:off x="822960" y="2926080"/>
            <a:ext cx="3749040" cy="411480"/>
          </a:xfrm>
          <a:prstGeom prst="rect">
            <a:avLst/>
          </a:prstGeom>
          <a:noFill/>
          <a:ln/>
        </p:spPr>
        <p:txBody>
          <a:bodyPr wrap="square" lIns="0" tIns="0" rIns="0" bIns="0" rtlCol="0" anchor="ctr"/>
          <a:lstStyle/>
          <a:p>
            <a:pPr algn="ctr" indent="0" marL="0">
              <a:buNone/>
            </a:pPr>
            <a:r>
              <a:rPr lang="en-US" sz="1400" b="1" dirty="0">
                <a:solidFill>
                  <a:schemeClr val="tx1"/>
                </a:solidFill>
              </a:rPr>
              <a:t>Below 50%: Class 0</a:t>
            </a:r>
            <a:endParaRPr lang="en-US" sz="1400" dirty="0"/>
          </a:p>
        </p:txBody>
      </p:sp>
      <p:sp>
        <p:nvSpPr>
          <p:cNvPr id="19" name="Text 17"/>
          <p:cNvSpPr txBox="1"/>
          <p:nvPr/>
        </p:nvSpPr>
        <p:spPr>
          <a:xfrm>
            <a:off x="4572000" y="2926080"/>
            <a:ext cx="3749040" cy="411480"/>
          </a:xfrm>
          <a:prstGeom prst="rect">
            <a:avLst/>
          </a:prstGeom>
          <a:noFill/>
          <a:ln/>
        </p:spPr>
        <p:txBody>
          <a:bodyPr wrap="square" lIns="0" tIns="0" rIns="0" bIns="0" rtlCol="0" anchor="ctr"/>
          <a:lstStyle/>
          <a:p>
            <a:pPr algn="ctr" indent="0" marL="0">
              <a:buNone/>
            </a:pPr>
            <a:r>
              <a:rPr lang="en-US" sz="1400" b="1" dirty="0">
                <a:solidFill>
                  <a:schemeClr val="tx1"/>
                </a:solidFill>
              </a:rPr>
              <a:t>Above 50%: Class 1</a:t>
            </a:r>
            <a:endParaRPr lang="en-US" sz="1400" dirty="0"/>
          </a:p>
        </p:txBody>
      </p:sp>
      <p:sp>
        <p:nvSpPr>
          <p:cNvPr id="20" name="50% marker"/>
          <p:cNvSpPr/>
          <p:nvPr/>
        </p:nvSpPr>
        <p:spPr>
          <a:xfrm>
            <a:off x="4544568" y="2834640"/>
            <a:ext cx="54864" cy="594360"/>
          </a:xfrm>
          <a:prstGeom prst="rect">
            <a:avLst/>
          </a:prstGeom>
          <a:solidFill>
            <a:schemeClr val="bg1"/>
          </a:solidFill>
          <a:ln/>
          <a:effectLst>
            <a:outerShdw sx="100000" sy="100000" kx="0" ky="0" algn="bl" rotWithShape="0" blurRad="127000" dist="50800" dir="16200000">
              <a:srgbClr val="FFFFFF">
                <a:alpha val="80000"/>
              </a:srgbClr>
            </a:outerShdw>
          </a:effectLst>
        </p:spPr>
      </p:sp>
      <p:sp>
        <p:nvSpPr>
          <p:cNvPr id="21" name="Text 19"/>
          <p:cNvSpPr txBox="1"/>
          <p:nvPr/>
        </p:nvSpPr>
        <p:spPr>
          <a:xfrm>
            <a:off x="822960" y="3401568"/>
            <a:ext cx="731520" cy="228600"/>
          </a:xfrm>
          <a:prstGeom prst="rect">
            <a:avLst/>
          </a:prstGeom>
          <a:noFill/>
          <a:ln/>
        </p:spPr>
        <p:txBody>
          <a:bodyPr wrap="square" lIns="0" tIns="0" rIns="0" bIns="0" rtlCol="0" anchor="t"/>
          <a:lstStyle/>
          <a:p>
            <a:pPr indent="0" marL="0">
              <a:buNone/>
            </a:pPr>
            <a:r>
              <a:rPr lang="en-US" sz="1200" dirty="0">
                <a:solidFill>
                  <a:schemeClr val="bg2"/>
                </a:solidFill>
              </a:rPr>
              <a:t>0%</a:t>
            </a:r>
            <a:endParaRPr lang="en-US" sz="1200" dirty="0"/>
          </a:p>
        </p:txBody>
      </p:sp>
      <p:sp>
        <p:nvSpPr>
          <p:cNvPr id="22" name="Text 20"/>
          <p:cNvSpPr txBox="1"/>
          <p:nvPr/>
        </p:nvSpPr>
        <p:spPr>
          <a:xfrm>
            <a:off x="7589520" y="3401568"/>
            <a:ext cx="731520" cy="228600"/>
          </a:xfrm>
          <a:prstGeom prst="rect">
            <a:avLst/>
          </a:prstGeom>
          <a:noFill/>
          <a:ln/>
        </p:spPr>
        <p:txBody>
          <a:bodyPr wrap="square" lIns="0" tIns="0" rIns="0" bIns="0" rtlCol="0" anchor="t"/>
          <a:lstStyle/>
          <a:p>
            <a:pPr algn="r" indent="0" marL="0">
              <a:buNone/>
            </a:pPr>
            <a:r>
              <a:rPr lang="en-US" sz="1200" dirty="0">
                <a:solidFill>
                  <a:schemeClr val="bg2"/>
                </a:solidFill>
              </a:rPr>
              <a:t>100%</a:t>
            </a:r>
            <a:endParaRPr lang="en-US" sz="1200" dirty="0"/>
          </a:p>
        </p:txBody>
      </p:sp>
      <p:sp>
        <p:nvSpPr>
          <p:cNvPr id="23" name="Variation card"/>
          <p:cNvSpPr/>
          <p:nvPr/>
        </p:nvSpPr>
        <p:spPr>
          <a:xfrm>
            <a:off x="457200" y="3840480"/>
            <a:ext cx="8229600" cy="777240"/>
          </a:xfrm>
          <a:prstGeom prst="roundRect">
            <a:avLst>
              <a:gd name="adj" fmla="val 14118"/>
            </a:avLst>
          </a:prstGeom>
          <a:solidFill>
            <a:schemeClr val="tx2"/>
          </a:solidFill>
          <a:ln w="9525">
            <a:solidFill>
              <a:schemeClr val="accent5">
                <a:alpha val="70000"/>
              </a:schemeClr>
            </a:solidFill>
            <a:prstDash val="solid"/>
          </a:ln>
        </p:spPr>
      </p:sp>
      <p:sp>
        <p:nvSpPr>
          <p:cNvPr id="24" name="Text 22"/>
          <p:cNvSpPr txBox="1"/>
          <p:nvPr/>
        </p:nvSpPr>
        <p:spPr>
          <a:xfrm>
            <a:off x="685800" y="3840480"/>
            <a:ext cx="7772400" cy="777240"/>
          </a:xfrm>
          <a:prstGeom prst="rect">
            <a:avLst/>
          </a:prstGeom>
          <a:noFill/>
          <a:ln/>
        </p:spPr>
        <p:txBody>
          <a:bodyPr wrap="square" lIns="0" tIns="0" rIns="0" bIns="0" rtlCol="0" anchor="ctr"/>
          <a:lstStyle/>
          <a:p>
            <a:pPr indent="0" marL="0">
              <a:buNone/>
            </a:pPr>
            <a:r>
              <a:rPr lang="en-US" sz="1400" b="1" dirty="0">
                <a:solidFill>
                  <a:schemeClr val="accent5"/>
                </a:solidFill>
              </a:rPr>
              <a:t>Results can vary. </a:t>
            </a:r>
            <a:pPr indent="0" marL="0">
              <a:buNone/>
            </a:pPr>
            <a:r>
              <a:rPr lang="en-US" sz="1400" dirty="0">
                <a:solidFill>
                  <a:schemeClr val="bg1"/>
                </a:solidFill>
              </a:rPr>
              <a:t>The network starts with random weights, so different runs can give different predictions.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The visualizations</a:t>
            </a:r>
            <a:endParaRPr lang="en-US" sz="3400" dirty="0"/>
          </a:p>
        </p:txBody>
      </p:sp>
      <p:sp>
        <p:nvSpPr>
          <p:cNvPr id="3" name="Panel card 1"/>
          <p:cNvSpPr/>
          <p:nvPr/>
        </p:nvSpPr>
        <p:spPr>
          <a:xfrm>
            <a:off x="457200" y="1143000"/>
            <a:ext cx="3977640" cy="3200400"/>
          </a:xfrm>
          <a:prstGeom prst="roundRect">
            <a:avLst>
              <a:gd name="adj" fmla="val 3429"/>
            </a:avLst>
          </a:prstGeom>
          <a:solidFill>
            <a:schemeClr val="tx2"/>
          </a:solidFill>
          <a:ln w="9525">
            <a:solidFill>
              <a:schemeClr val="accent1">
                <a:alpha val="45000"/>
              </a:schemeClr>
            </a:solidFill>
            <a:prstDash val="solid"/>
          </a:ln>
          <a:effectLst>
            <a:outerShdw sx="100000" sy="100000" kx="0" ky="0" algn="bl" rotWithShape="0" blurRad="177800" dist="50800" dir="16200000">
              <a:srgbClr val="22D3EE">
                <a:alpha val="45000"/>
              </a:srgbClr>
            </a:outerShdw>
          </a:effectLst>
        </p:spPr>
      </p:sp>
      <p:pic>
        <p:nvPicPr>
          <p:cNvPr id="4" name="Image 0" descr="Illustrative decision boundary with two colored regions and four sample points">    </p:cNvPr>
          <p:cNvPicPr>
            <a:picLocks noChangeAspect="1"/>
          </p:cNvPicPr>
          <p:nvPr/>
        </p:nvPicPr>
        <p:blipFill>
          <a:blip r:embed="rId1"/>
          <a:stretch>
            <a:fillRect/>
          </a:stretch>
        </p:blipFill>
        <p:spPr>
          <a:xfrm>
            <a:off x="548640" y="1234440"/>
            <a:ext cx="3794760" cy="1737360"/>
          </a:xfrm>
          <a:prstGeom prst="rect">
            <a:avLst/>
          </a:prstGeom>
        </p:spPr>
      </p:pic>
      <p:sp>
        <p:nvSpPr>
          <p:cNvPr id="5" name="Text 2"/>
          <p:cNvSpPr txBox="1"/>
          <p:nvPr/>
        </p:nvSpPr>
        <p:spPr>
          <a:xfrm>
            <a:off x="640080" y="3063240"/>
            <a:ext cx="3611880" cy="274320"/>
          </a:xfrm>
          <a:prstGeom prst="rect">
            <a:avLst/>
          </a:prstGeom>
          <a:noFill/>
          <a:ln/>
        </p:spPr>
        <p:txBody>
          <a:bodyPr wrap="square" lIns="0" tIns="0" rIns="0" bIns="0" rtlCol="0" anchor="t"/>
          <a:lstStyle/>
          <a:p>
            <a:pPr indent="0" marL="0">
              <a:buNone/>
            </a:pPr>
            <a:r>
              <a:rPr lang="en-US" sz="1600" b="1" dirty="0">
                <a:solidFill>
                  <a:schemeClr val="accent1"/>
                </a:solidFill>
              </a:rPr>
              <a:t>Decision boundary</a:t>
            </a:r>
            <a:endParaRPr lang="en-US" sz="1600" dirty="0"/>
          </a:p>
        </p:txBody>
      </p:sp>
      <p:sp>
        <p:nvSpPr>
          <p:cNvPr id="6" name="Text 3"/>
          <p:cNvSpPr txBox="1"/>
          <p:nvPr/>
        </p:nvSpPr>
        <p:spPr>
          <a:xfrm>
            <a:off x="640080" y="3383280"/>
            <a:ext cx="3611880" cy="914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Background color = predicted class</a:t>
            </a:r>
            <a:endParaRPr lang="en-US" sz="1400" dirty="0"/>
          </a:p>
          <a:p>
            <a:pPr marL="342900" indent="-342900">
              <a:spcAft>
                <a:spcPts val="400"/>
              </a:spcAft>
              <a:buSzPct val="100000"/>
              <a:buChar char="•"/>
            </a:pPr>
            <a:r>
              <a:rPr lang="en-US" sz="1400" dirty="0">
                <a:solidFill>
                  <a:schemeClr val="bg1"/>
                </a:solidFill>
              </a:rPr>
              <a:t>Dots = the four sample points</a:t>
            </a:r>
            <a:endParaRPr lang="en-US" sz="1400" dirty="0"/>
          </a:p>
          <a:p>
            <a:pPr marL="342900" indent="-342900">
              <a:spcAft>
                <a:spcPts val="400"/>
              </a:spcAft>
              <a:buSzPct val="100000"/>
              <a:buChar char="•"/>
            </a:pPr>
            <a:r>
              <a:rPr lang="en-US" sz="1400" dirty="0">
                <a:solidFill>
                  <a:schemeClr val="bg1"/>
                </a:solidFill>
              </a:rPr>
              <a:t>Outlined dot = your input</a:t>
            </a:r>
            <a:endParaRPr lang="en-US" sz="1400" dirty="0"/>
          </a:p>
        </p:txBody>
      </p:sp>
      <p:sp>
        <p:nvSpPr>
          <p:cNvPr id="7" name="Panel card 2"/>
          <p:cNvSpPr/>
          <p:nvPr/>
        </p:nvSpPr>
        <p:spPr>
          <a:xfrm>
            <a:off x="4709160" y="1143000"/>
            <a:ext cx="3977640" cy="3200400"/>
          </a:xfrm>
          <a:prstGeom prst="roundRect">
            <a:avLst>
              <a:gd name="adj" fmla="val 3429"/>
            </a:avLst>
          </a:prstGeom>
          <a:solidFill>
            <a:schemeClr val="tx2"/>
          </a:solidFill>
          <a:ln w="9525">
            <a:solidFill>
              <a:schemeClr val="accent1">
                <a:alpha val="45000"/>
              </a:schemeClr>
            </a:solidFill>
            <a:prstDash val="solid"/>
          </a:ln>
          <a:effectLst>
            <a:outerShdw sx="100000" sy="100000" kx="0" ky="0" algn="bl" rotWithShape="0" blurRad="177800" dist="50800" dir="16200000">
              <a:srgbClr val="22D3EE">
                <a:alpha val="45000"/>
              </a:srgbClr>
            </a:outerShdw>
          </a:effectLst>
        </p:spPr>
      </p:sp>
      <p:pic>
        <p:nvPicPr>
          <p:cNvPr id="8" name="Image 1" descr="Illustrative 3D probability surface">    </p:cNvPr>
          <p:cNvPicPr>
            <a:picLocks noChangeAspect="1"/>
          </p:cNvPicPr>
          <p:nvPr/>
        </p:nvPicPr>
        <p:blipFill>
          <a:blip r:embed="rId2"/>
          <a:stretch>
            <a:fillRect/>
          </a:stretch>
        </p:blipFill>
        <p:spPr>
          <a:xfrm>
            <a:off x="4800600" y="1234440"/>
            <a:ext cx="3794760" cy="1737360"/>
          </a:xfrm>
          <a:prstGeom prst="rect">
            <a:avLst/>
          </a:prstGeom>
        </p:spPr>
      </p:pic>
      <p:sp>
        <p:nvSpPr>
          <p:cNvPr id="9" name="Text 5"/>
          <p:cNvSpPr txBox="1"/>
          <p:nvPr/>
        </p:nvSpPr>
        <p:spPr>
          <a:xfrm>
            <a:off x="4892040" y="3063240"/>
            <a:ext cx="3611880" cy="274320"/>
          </a:xfrm>
          <a:prstGeom prst="rect">
            <a:avLst/>
          </a:prstGeom>
          <a:noFill/>
          <a:ln/>
        </p:spPr>
        <p:txBody>
          <a:bodyPr wrap="square" lIns="0" tIns="0" rIns="0" bIns="0" rtlCol="0" anchor="t"/>
          <a:lstStyle/>
          <a:p>
            <a:pPr indent="0" marL="0">
              <a:buNone/>
            </a:pPr>
            <a:r>
              <a:rPr lang="en-US" sz="1600" b="1" dirty="0">
                <a:solidFill>
                  <a:schemeClr val="accent1"/>
                </a:solidFill>
              </a:rPr>
              <a:t>3D probability surface</a:t>
            </a:r>
            <a:endParaRPr lang="en-US" sz="1600" dirty="0"/>
          </a:p>
        </p:txBody>
      </p:sp>
      <p:sp>
        <p:nvSpPr>
          <p:cNvPr id="10" name="Text 6"/>
          <p:cNvSpPr txBox="1"/>
          <p:nvPr/>
        </p:nvSpPr>
        <p:spPr>
          <a:xfrm>
            <a:off x="4892040" y="3383280"/>
            <a:ext cx="3611880" cy="914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Height and color = probability</a:t>
            </a:r>
            <a:endParaRPr lang="en-US" sz="1400" dirty="0"/>
          </a:p>
          <a:p>
            <a:pPr marL="342900" indent="-342900">
              <a:spcAft>
                <a:spcPts val="400"/>
              </a:spcAft>
              <a:buSzPct val="100000"/>
              <a:buChar char="•"/>
            </a:pPr>
            <a:r>
              <a:rPr lang="en-US" sz="1400" dirty="0">
                <a:solidFill>
                  <a:schemeClr val="bg1"/>
                </a:solidFill>
              </a:rPr>
              <a:t>Drag to rotate, or use arrow keys</a:t>
            </a:r>
            <a:endParaRPr lang="en-US" sz="1400" dirty="0"/>
          </a:p>
          <a:p>
            <a:pPr marL="342900" indent="-342900">
              <a:spcAft>
                <a:spcPts val="400"/>
              </a:spcAft>
              <a:buSzPct val="100000"/>
              <a:buChar char="•"/>
            </a:pPr>
            <a:r>
              <a:rPr lang="en-US" sz="1400" dirty="0">
                <a:solidFill>
                  <a:schemeClr val="bg1"/>
                </a:solidFill>
              </a:rPr>
              <a:t>Low = Class 0 side, high = Class 1 side</a:t>
            </a:r>
            <a:endParaRPr lang="en-US" sz="1400" dirty="0"/>
          </a:p>
        </p:txBody>
      </p:sp>
      <p:sp>
        <p:nvSpPr>
          <p:cNvPr id="11" name="Text 7"/>
          <p:cNvSpPr txBox="1"/>
          <p:nvPr/>
        </p:nvSpPr>
        <p:spPr>
          <a:xfrm>
            <a:off x="457200" y="4526280"/>
            <a:ext cx="8229600" cy="201168"/>
          </a:xfrm>
          <a:prstGeom prst="rect">
            <a:avLst/>
          </a:prstGeom>
          <a:noFill/>
          <a:ln/>
        </p:spPr>
        <p:txBody>
          <a:bodyPr wrap="square" lIns="0" tIns="0" rIns="0" bIns="0" rtlCol="0" anchor="t"/>
          <a:lstStyle/>
          <a:p>
            <a:pPr algn="ctr" indent="0" marL="0">
              <a:buNone/>
            </a:pPr>
            <a:r>
              <a:rPr lang="en-US" sz="1100" i="1" dirty="0">
                <a:solidFill>
                  <a:schemeClr val="bg2"/>
                </a:solidFill>
              </a:rPr>
              <a:t>Illustrations only, not output from the real model</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Training settings</a:t>
            </a:r>
            <a:endParaRPr lang="en-US" sz="3400" dirty="0"/>
          </a:p>
        </p:txBody>
      </p:sp>
      <p:sp>
        <p:nvSpPr>
          <p:cNvPr id="3" name="Setting card 1"/>
          <p:cNvSpPr/>
          <p:nvPr/>
        </p:nvSpPr>
        <p:spPr>
          <a:xfrm>
            <a:off x="457200" y="1188720"/>
            <a:ext cx="3977640" cy="1097280"/>
          </a:xfrm>
          <a:prstGeom prst="roundRect">
            <a:avLst>
              <a:gd name="adj" fmla="val 10000"/>
            </a:avLst>
          </a:prstGeom>
          <a:solidFill>
            <a:schemeClr val="tx2"/>
          </a:solidFill>
          <a:ln w="9525">
            <a:solidFill>
              <a:schemeClr val="accent1">
                <a:alpha val="45000"/>
              </a:schemeClr>
            </a:solidFill>
            <a:prstDash val="solid"/>
          </a:ln>
        </p:spPr>
      </p:sp>
      <p:sp>
        <p:nvSpPr>
          <p:cNvPr id="4" name="Icon circle 1"/>
          <p:cNvSpPr/>
          <p:nvPr/>
        </p:nvSpPr>
        <p:spPr>
          <a:xfrm>
            <a:off x="640080" y="1463040"/>
            <a:ext cx="548640" cy="548640"/>
          </a:xfrm>
          <a:prstGeom prst="ellipse">
            <a:avLst/>
          </a:prstGeom>
          <a:solidFill>
            <a:schemeClr val="tx1"/>
          </a:solidFill>
          <a:ln w="12700">
            <a:solidFill>
              <a:schemeClr val="accent1"/>
            </a:solidFill>
            <a:prstDash val="solid"/>
          </a:ln>
          <a:effectLst>
            <a:outerShdw sx="100000" sy="100000" kx="0" ky="0" algn="bl" rotWithShape="0" blurRad="127000" dist="50800" dir="16200000">
              <a:srgbClr val="22D3EE">
                <a:alpha val="50000"/>
              </a:srgbClr>
            </a:outerShdw>
          </a:effectLst>
        </p:spPr>
      </p:sp>
      <p:pic>
        <p:nvPicPr>
          <p:cNvPr id="5" name="Image 0" descr="Learning rate icon">    </p:cNvPr>
          <p:cNvPicPr>
            <a:picLocks noChangeAspect="1"/>
          </p:cNvPicPr>
          <p:nvPr/>
        </p:nvPicPr>
        <p:blipFill>
          <a:blip r:embed="rId1"/>
          <a:stretch>
            <a:fillRect/>
          </a:stretch>
        </p:blipFill>
        <p:spPr>
          <a:xfrm>
            <a:off x="758952" y="1581912"/>
            <a:ext cx="310896" cy="310896"/>
          </a:xfrm>
          <a:prstGeom prst="rect">
            <a:avLst/>
          </a:prstGeom>
        </p:spPr>
      </p:pic>
      <p:sp>
        <p:nvSpPr>
          <p:cNvPr id="6" name="Text 3"/>
          <p:cNvSpPr txBox="1"/>
          <p:nvPr/>
        </p:nvSpPr>
        <p:spPr>
          <a:xfrm>
            <a:off x="1371600" y="1234440"/>
            <a:ext cx="2926080" cy="1005840"/>
          </a:xfrm>
          <a:prstGeom prst="rect">
            <a:avLst/>
          </a:prstGeom>
          <a:noFill/>
          <a:ln/>
        </p:spPr>
        <p:txBody>
          <a:bodyPr wrap="square" lIns="0" tIns="0" rIns="0" bIns="0" rtlCol="0" anchor="ctr"/>
          <a:lstStyle/>
          <a:p>
            <a:pPr indent="0" marL="0">
              <a:buNone/>
            </a:pPr>
            <a:r>
              <a:rPr lang="en-US" sz="1600" b="1" dirty="0">
                <a:solidFill>
                  <a:schemeClr val="accent1"/>
                </a:solidFill>
              </a:rPr>
              <a:t>Learning rate</a:t>
            </a:r>
            <a:endParaRPr lang="en-US" sz="1400" dirty="0"/>
          </a:p>
          <a:p>
            <a:pPr indent="0" marL="0">
              <a:buNone/>
            </a:pPr>
            <a:r>
              <a:rPr lang="en-US" sz="1400" dirty="0">
                <a:solidFill>
                  <a:schemeClr val="bg1"/>
                </a:solidFill>
              </a:rPr>
              <a:t>How strongly the weights change at each update.</a:t>
            </a:r>
            <a:endParaRPr lang="en-US" sz="1400" dirty="0"/>
          </a:p>
        </p:txBody>
      </p:sp>
      <p:sp>
        <p:nvSpPr>
          <p:cNvPr id="7" name="Setting card 2"/>
          <p:cNvSpPr/>
          <p:nvPr/>
        </p:nvSpPr>
        <p:spPr>
          <a:xfrm>
            <a:off x="4709160" y="1188720"/>
            <a:ext cx="3977640" cy="1097280"/>
          </a:xfrm>
          <a:prstGeom prst="roundRect">
            <a:avLst>
              <a:gd name="adj" fmla="val 10000"/>
            </a:avLst>
          </a:prstGeom>
          <a:solidFill>
            <a:schemeClr val="tx2"/>
          </a:solidFill>
          <a:ln w="9525">
            <a:solidFill>
              <a:schemeClr val="accent1">
                <a:alpha val="45000"/>
              </a:schemeClr>
            </a:solidFill>
            <a:prstDash val="solid"/>
          </a:ln>
        </p:spPr>
      </p:sp>
      <p:sp>
        <p:nvSpPr>
          <p:cNvPr id="8" name="Icon circle 2"/>
          <p:cNvSpPr/>
          <p:nvPr/>
        </p:nvSpPr>
        <p:spPr>
          <a:xfrm>
            <a:off x="4892040" y="1463040"/>
            <a:ext cx="548640" cy="548640"/>
          </a:xfrm>
          <a:prstGeom prst="ellipse">
            <a:avLst/>
          </a:prstGeom>
          <a:solidFill>
            <a:schemeClr val="tx1"/>
          </a:solidFill>
          <a:ln w="12700">
            <a:solidFill>
              <a:schemeClr val="accent1"/>
            </a:solidFill>
            <a:prstDash val="solid"/>
          </a:ln>
          <a:effectLst>
            <a:outerShdw sx="100000" sy="100000" kx="0" ky="0" algn="bl" rotWithShape="0" blurRad="127000" dist="50800" dir="16200000">
              <a:srgbClr val="22D3EE">
                <a:alpha val="50000"/>
              </a:srgbClr>
            </a:outerShdw>
          </a:effectLst>
        </p:spPr>
      </p:sp>
      <p:pic>
        <p:nvPicPr>
          <p:cNvPr id="9" name="Image 1" descr="Epochs icon">    </p:cNvPr>
          <p:cNvPicPr>
            <a:picLocks noChangeAspect="1"/>
          </p:cNvPicPr>
          <p:nvPr/>
        </p:nvPicPr>
        <p:blipFill>
          <a:blip r:embed="rId2"/>
          <a:stretch>
            <a:fillRect/>
          </a:stretch>
        </p:blipFill>
        <p:spPr>
          <a:xfrm>
            <a:off x="5010912" y="1581912"/>
            <a:ext cx="310896" cy="310896"/>
          </a:xfrm>
          <a:prstGeom prst="rect">
            <a:avLst/>
          </a:prstGeom>
        </p:spPr>
      </p:pic>
      <p:sp>
        <p:nvSpPr>
          <p:cNvPr id="10" name="Text 6"/>
          <p:cNvSpPr txBox="1"/>
          <p:nvPr/>
        </p:nvSpPr>
        <p:spPr>
          <a:xfrm>
            <a:off x="5623560" y="1234440"/>
            <a:ext cx="2926080" cy="1005840"/>
          </a:xfrm>
          <a:prstGeom prst="rect">
            <a:avLst/>
          </a:prstGeom>
          <a:noFill/>
          <a:ln/>
        </p:spPr>
        <p:txBody>
          <a:bodyPr wrap="square" lIns="0" tIns="0" rIns="0" bIns="0" rtlCol="0" anchor="ctr"/>
          <a:lstStyle/>
          <a:p>
            <a:pPr indent="0" marL="0">
              <a:buNone/>
            </a:pPr>
            <a:r>
              <a:rPr lang="en-US" sz="1600" b="1" dirty="0">
                <a:solidFill>
                  <a:schemeClr val="accent1"/>
                </a:solidFill>
              </a:rPr>
              <a:t>Epochs</a:t>
            </a:r>
            <a:endParaRPr lang="en-US" sz="1400" dirty="0"/>
          </a:p>
          <a:p>
            <a:pPr indent="0" marL="0">
              <a:buNone/>
            </a:pPr>
            <a:r>
              <a:rPr lang="en-US" sz="1400" dirty="0">
                <a:solidFill>
                  <a:schemeClr val="bg1"/>
                </a:solidFill>
              </a:rPr>
              <a:t>How many training passes to perform.</a:t>
            </a:r>
            <a:endParaRPr lang="en-US" sz="1400" dirty="0"/>
          </a:p>
        </p:txBody>
      </p:sp>
      <p:sp>
        <p:nvSpPr>
          <p:cNvPr id="11" name="Setting card 3"/>
          <p:cNvSpPr/>
          <p:nvPr/>
        </p:nvSpPr>
        <p:spPr>
          <a:xfrm>
            <a:off x="457200" y="2514600"/>
            <a:ext cx="3977640" cy="1097280"/>
          </a:xfrm>
          <a:prstGeom prst="roundRect">
            <a:avLst>
              <a:gd name="adj" fmla="val 10000"/>
            </a:avLst>
          </a:prstGeom>
          <a:solidFill>
            <a:schemeClr val="tx2"/>
          </a:solidFill>
          <a:ln w="9525">
            <a:solidFill>
              <a:schemeClr val="accent1">
                <a:alpha val="45000"/>
              </a:schemeClr>
            </a:solidFill>
            <a:prstDash val="solid"/>
          </a:ln>
        </p:spPr>
      </p:sp>
      <p:sp>
        <p:nvSpPr>
          <p:cNvPr id="12" name="Icon circle 3"/>
          <p:cNvSpPr/>
          <p:nvPr/>
        </p:nvSpPr>
        <p:spPr>
          <a:xfrm>
            <a:off x="640080" y="2788920"/>
            <a:ext cx="548640" cy="548640"/>
          </a:xfrm>
          <a:prstGeom prst="ellipse">
            <a:avLst/>
          </a:prstGeom>
          <a:solidFill>
            <a:schemeClr val="tx1"/>
          </a:solidFill>
          <a:ln w="12700">
            <a:solidFill>
              <a:schemeClr val="accent1"/>
            </a:solidFill>
            <a:prstDash val="solid"/>
          </a:ln>
          <a:effectLst>
            <a:outerShdw sx="100000" sy="100000" kx="0" ky="0" algn="bl" rotWithShape="0" blurRad="127000" dist="50800" dir="16200000">
              <a:srgbClr val="22D3EE">
                <a:alpha val="50000"/>
              </a:srgbClr>
            </a:outerShdw>
          </a:effectLst>
        </p:spPr>
      </p:sp>
      <p:pic>
        <p:nvPicPr>
          <p:cNvPr id="13" name="Image 2" descr="Batch size icon">    </p:cNvPr>
          <p:cNvPicPr>
            <a:picLocks noChangeAspect="1"/>
          </p:cNvPicPr>
          <p:nvPr/>
        </p:nvPicPr>
        <p:blipFill>
          <a:blip r:embed="rId3"/>
          <a:stretch>
            <a:fillRect/>
          </a:stretch>
        </p:blipFill>
        <p:spPr>
          <a:xfrm>
            <a:off x="758952" y="2907792"/>
            <a:ext cx="310896" cy="310896"/>
          </a:xfrm>
          <a:prstGeom prst="rect">
            <a:avLst/>
          </a:prstGeom>
        </p:spPr>
      </p:pic>
      <p:sp>
        <p:nvSpPr>
          <p:cNvPr id="14" name="Text 9"/>
          <p:cNvSpPr txBox="1"/>
          <p:nvPr/>
        </p:nvSpPr>
        <p:spPr>
          <a:xfrm>
            <a:off x="1371600" y="2560320"/>
            <a:ext cx="2926080" cy="1005840"/>
          </a:xfrm>
          <a:prstGeom prst="rect">
            <a:avLst/>
          </a:prstGeom>
          <a:noFill/>
          <a:ln/>
        </p:spPr>
        <p:txBody>
          <a:bodyPr wrap="square" lIns="0" tIns="0" rIns="0" bIns="0" rtlCol="0" anchor="ctr"/>
          <a:lstStyle/>
          <a:p>
            <a:pPr indent="0" marL="0">
              <a:buNone/>
            </a:pPr>
            <a:r>
              <a:rPr lang="en-US" sz="1600" b="1" dirty="0">
                <a:solidFill>
                  <a:schemeClr val="accent1"/>
                </a:solidFill>
              </a:rPr>
              <a:t>Batch size</a:t>
            </a:r>
            <a:endParaRPr lang="en-US" sz="1400" dirty="0"/>
          </a:p>
          <a:p>
            <a:pPr indent="0" marL="0">
              <a:buNone/>
            </a:pPr>
            <a:r>
              <a:rPr lang="en-US" sz="1400" dirty="0">
                <a:solidFill>
                  <a:schemeClr val="bg1"/>
                </a:solidFill>
              </a:rPr>
              <a:t>How many samples are used in one update.</a:t>
            </a:r>
            <a:endParaRPr lang="en-US" sz="1400" dirty="0"/>
          </a:p>
        </p:txBody>
      </p:sp>
      <p:sp>
        <p:nvSpPr>
          <p:cNvPr id="15" name="Setting card 4"/>
          <p:cNvSpPr/>
          <p:nvPr/>
        </p:nvSpPr>
        <p:spPr>
          <a:xfrm>
            <a:off x="4709160" y="2514600"/>
            <a:ext cx="3977640" cy="1097280"/>
          </a:xfrm>
          <a:prstGeom prst="roundRect">
            <a:avLst>
              <a:gd name="adj" fmla="val 10000"/>
            </a:avLst>
          </a:prstGeom>
          <a:solidFill>
            <a:schemeClr val="tx2"/>
          </a:solidFill>
          <a:ln w="9525">
            <a:solidFill>
              <a:schemeClr val="accent1">
                <a:alpha val="45000"/>
              </a:schemeClr>
            </a:solidFill>
            <a:prstDash val="solid"/>
          </a:ln>
        </p:spPr>
      </p:sp>
      <p:sp>
        <p:nvSpPr>
          <p:cNvPr id="16" name="Icon circle 4"/>
          <p:cNvSpPr/>
          <p:nvPr/>
        </p:nvSpPr>
        <p:spPr>
          <a:xfrm>
            <a:off x="4892040" y="2788920"/>
            <a:ext cx="548640" cy="548640"/>
          </a:xfrm>
          <a:prstGeom prst="ellipse">
            <a:avLst/>
          </a:prstGeom>
          <a:solidFill>
            <a:schemeClr val="tx1"/>
          </a:solidFill>
          <a:ln w="12700">
            <a:solidFill>
              <a:schemeClr val="accent1"/>
            </a:solidFill>
            <a:prstDash val="solid"/>
          </a:ln>
          <a:effectLst>
            <a:outerShdw sx="100000" sy="100000" kx="0" ky="0" algn="bl" rotWithShape="0" blurRad="127000" dist="50800" dir="16200000">
              <a:srgbClr val="22D3EE">
                <a:alpha val="50000"/>
              </a:srgbClr>
            </a:outerShdw>
          </a:effectLst>
        </p:spPr>
      </p:sp>
      <p:pic>
        <p:nvPicPr>
          <p:cNvPr id="17" name="Image 3" descr="SGD, Momentum, Adam icon">    </p:cNvPr>
          <p:cNvPicPr>
            <a:picLocks noChangeAspect="1"/>
          </p:cNvPicPr>
          <p:nvPr/>
        </p:nvPicPr>
        <p:blipFill>
          <a:blip r:embed="rId4"/>
          <a:stretch>
            <a:fillRect/>
          </a:stretch>
        </p:blipFill>
        <p:spPr>
          <a:xfrm>
            <a:off x="5010912" y="2907792"/>
            <a:ext cx="310896" cy="310896"/>
          </a:xfrm>
          <a:prstGeom prst="rect">
            <a:avLst/>
          </a:prstGeom>
        </p:spPr>
      </p:pic>
      <p:sp>
        <p:nvSpPr>
          <p:cNvPr id="18" name="Text 12"/>
          <p:cNvSpPr txBox="1"/>
          <p:nvPr/>
        </p:nvSpPr>
        <p:spPr>
          <a:xfrm>
            <a:off x="5623560" y="2560320"/>
            <a:ext cx="2926080" cy="1005840"/>
          </a:xfrm>
          <a:prstGeom prst="rect">
            <a:avLst/>
          </a:prstGeom>
          <a:noFill/>
          <a:ln/>
        </p:spPr>
        <p:txBody>
          <a:bodyPr wrap="square" lIns="0" tIns="0" rIns="0" bIns="0" rtlCol="0" anchor="ctr"/>
          <a:lstStyle/>
          <a:p>
            <a:pPr indent="0" marL="0">
              <a:buNone/>
            </a:pPr>
            <a:r>
              <a:rPr lang="en-US" sz="1600" b="1" dirty="0">
                <a:solidFill>
                  <a:schemeClr val="accent1"/>
                </a:solidFill>
              </a:rPr>
              <a:t>SGD, Momentum, Adam</a:t>
            </a:r>
            <a:endParaRPr lang="en-US" sz="1400" dirty="0"/>
          </a:p>
          <a:p>
            <a:pPr indent="0" marL="0">
              <a:buNone/>
            </a:pPr>
            <a:r>
              <a:rPr lang="en-US" sz="1400" dirty="0">
                <a:solidFill>
                  <a:schemeClr val="bg1"/>
                </a:solidFill>
              </a:rPr>
              <a:t>Different methods for adjusting weights.</a:t>
            </a:r>
            <a:endParaRPr lang="en-US" sz="1400" dirty="0"/>
          </a:p>
        </p:txBody>
      </p:sp>
      <p:sp>
        <p:nvSpPr>
          <p:cNvPr id="19" name="Try it banner"/>
          <p:cNvSpPr/>
          <p:nvPr/>
        </p:nvSpPr>
        <p:spPr>
          <a:xfrm>
            <a:off x="457200" y="3931920"/>
            <a:ext cx="8229600" cy="731520"/>
          </a:xfrm>
          <a:prstGeom prst="roundRect">
            <a:avLst>
              <a:gd name="adj" fmla="val 15000"/>
            </a:avLst>
          </a:prstGeom>
          <a:solidFill>
            <a:schemeClr val="tx2"/>
          </a:solidFill>
          <a:ln w="9525">
            <a:solidFill>
              <a:schemeClr val="accent1">
                <a:alpha val="45000"/>
              </a:schemeClr>
            </a:solidFill>
            <a:prstDash val="solid"/>
          </a:ln>
          <a:effectLst>
            <a:outerShdw sx="100000" sy="100000" kx="0" ky="0" algn="bl" rotWithShape="0" blurRad="177800" dist="50800" dir="16200000">
              <a:srgbClr val="22D3EE">
                <a:alpha val="45000"/>
              </a:srgbClr>
            </a:outerShdw>
          </a:effectLst>
        </p:spPr>
      </p:sp>
      <p:sp>
        <p:nvSpPr>
          <p:cNvPr id="20" name="Text 14"/>
          <p:cNvSpPr txBox="1"/>
          <p:nvPr/>
        </p:nvSpPr>
        <p:spPr>
          <a:xfrm>
            <a:off x="685800" y="3931920"/>
            <a:ext cx="7772400" cy="731520"/>
          </a:xfrm>
          <a:prstGeom prst="rect">
            <a:avLst/>
          </a:prstGeom>
          <a:noFill/>
          <a:ln/>
        </p:spPr>
        <p:txBody>
          <a:bodyPr wrap="square" lIns="0" tIns="0" rIns="0" bIns="0" rtlCol="0" anchor="ctr"/>
          <a:lstStyle/>
          <a:p>
            <a:pPr indent="0" marL="0">
              <a:buNone/>
            </a:pPr>
            <a:r>
              <a:rPr lang="en-US" sz="1600" b="1" dirty="0">
                <a:solidFill>
                  <a:schemeClr val="accent1"/>
                </a:solidFill>
              </a:rPr>
              <a:t>Try it: </a:t>
            </a:r>
            <a:pPr indent="0" marL="0">
              <a:buNone/>
            </a:pPr>
            <a:r>
              <a:rPr lang="en-US" sz="1600" dirty="0">
                <a:solidFill>
                  <a:schemeClr val="bg1"/>
                </a:solidFill>
              </a:rPr>
              <a:t>change the settings, then compare how the loss and predictions change.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Conclusion and limitations</a:t>
            </a:r>
            <a:endParaRPr lang="en-US" sz="3400" dirty="0"/>
          </a:p>
        </p:txBody>
      </p:sp>
      <p:sp>
        <p:nvSpPr>
          <p:cNvPr id="3" name="Summary card"/>
          <p:cNvSpPr/>
          <p:nvPr/>
        </p:nvSpPr>
        <p:spPr>
          <a:xfrm>
            <a:off x="457200" y="1188720"/>
            <a:ext cx="3977640" cy="1965960"/>
          </a:xfrm>
          <a:prstGeom prst="roundRect">
            <a:avLst>
              <a:gd name="adj" fmla="val 5581"/>
            </a:avLst>
          </a:prstGeom>
          <a:solidFill>
            <a:schemeClr val="tx2"/>
          </a:solidFill>
          <a:ln w="9525">
            <a:solidFill>
              <a:schemeClr val="accent1">
                <a:alpha val="45000"/>
              </a:schemeClr>
            </a:solidFill>
            <a:prstDash val="solid"/>
          </a:ln>
        </p:spPr>
      </p:sp>
      <p:sp>
        <p:nvSpPr>
          <p:cNvPr id="4" name="Text 2"/>
          <p:cNvSpPr txBox="1"/>
          <p:nvPr/>
        </p:nvSpPr>
        <p:spPr>
          <a:xfrm>
            <a:off x="685800" y="1298448"/>
            <a:ext cx="3566160" cy="292608"/>
          </a:xfrm>
          <a:prstGeom prst="rect">
            <a:avLst/>
          </a:prstGeom>
          <a:noFill/>
          <a:ln/>
        </p:spPr>
        <p:txBody>
          <a:bodyPr wrap="square" lIns="0" tIns="0" rIns="0" bIns="0" rtlCol="0" anchor="t"/>
          <a:lstStyle/>
          <a:p>
            <a:pPr indent="0" marL="0">
              <a:buNone/>
            </a:pPr>
            <a:r>
              <a:rPr lang="en-US" sz="1800" b="1" dirty="0">
                <a:solidFill>
                  <a:schemeClr val="accent1"/>
                </a:solidFill>
              </a:rPr>
              <a:t>What it shows</a:t>
            </a:r>
            <a:endParaRPr lang="en-US" sz="1800" dirty="0"/>
          </a:p>
        </p:txBody>
      </p:sp>
      <p:sp>
        <p:nvSpPr>
          <p:cNvPr id="5" name="Text 3"/>
          <p:cNvSpPr txBox="1"/>
          <p:nvPr/>
        </p:nvSpPr>
        <p:spPr>
          <a:xfrm>
            <a:off x="685800" y="169164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How a small network is trained</a:t>
            </a:r>
            <a:endParaRPr lang="en-US" sz="1500" dirty="0"/>
          </a:p>
          <a:p>
            <a:pPr marL="342900" indent="-342900">
              <a:spcAft>
                <a:spcPts val="600"/>
              </a:spcAft>
              <a:buSzPct val="100000"/>
              <a:buChar char="•"/>
            </a:pPr>
            <a:r>
              <a:rPr lang="en-US" sz="1500" dirty="0">
                <a:solidFill>
                  <a:schemeClr val="bg1"/>
                </a:solidFill>
              </a:rPr>
              <a:t>Binary classification: Class 0 or Class 1</a:t>
            </a:r>
            <a:endParaRPr lang="en-US" sz="1500" dirty="0"/>
          </a:p>
          <a:p>
            <a:pPr marL="342900" indent="-342900">
              <a:spcAft>
                <a:spcPts val="600"/>
              </a:spcAft>
              <a:buSzPct val="100000"/>
              <a:buChar char="•"/>
            </a:pPr>
            <a:r>
              <a:rPr lang="en-US" sz="1500" dirty="0">
                <a:solidFill>
                  <a:schemeClr val="bg1"/>
                </a:solidFill>
              </a:rPr>
              <a:t>Loss, boundary, and probability visuals</a:t>
            </a:r>
            <a:endParaRPr lang="en-US" sz="1500" dirty="0"/>
          </a:p>
        </p:txBody>
      </p:sp>
      <p:sp>
        <p:nvSpPr>
          <p:cNvPr id="6" name="Limitations card"/>
          <p:cNvSpPr/>
          <p:nvPr/>
        </p:nvSpPr>
        <p:spPr>
          <a:xfrm>
            <a:off x="4709160" y="1188720"/>
            <a:ext cx="3977640" cy="1965960"/>
          </a:xfrm>
          <a:prstGeom prst="roundRect">
            <a:avLst>
              <a:gd name="adj" fmla="val 5581"/>
            </a:avLst>
          </a:prstGeom>
          <a:solidFill>
            <a:schemeClr val="tx2"/>
          </a:solidFill>
          <a:ln w="9525">
            <a:solidFill>
              <a:schemeClr val="accent5">
                <a:alpha val="70000"/>
              </a:schemeClr>
            </a:solidFill>
            <a:prstDash val="solid"/>
          </a:ln>
        </p:spPr>
      </p:sp>
      <p:sp>
        <p:nvSpPr>
          <p:cNvPr id="7" name="Text 5"/>
          <p:cNvSpPr txBox="1"/>
          <p:nvPr/>
        </p:nvSpPr>
        <p:spPr>
          <a:xfrm>
            <a:off x="4937760" y="1298448"/>
            <a:ext cx="3566160" cy="292608"/>
          </a:xfrm>
          <a:prstGeom prst="rect">
            <a:avLst/>
          </a:prstGeom>
          <a:noFill/>
          <a:ln/>
        </p:spPr>
        <p:txBody>
          <a:bodyPr wrap="square" lIns="0" tIns="0" rIns="0" bIns="0" rtlCol="0" anchor="t"/>
          <a:lstStyle/>
          <a:p>
            <a:pPr indent="0" marL="0">
              <a:buNone/>
            </a:pPr>
            <a:r>
              <a:rPr lang="en-US" sz="1800" b="1" dirty="0">
                <a:solidFill>
                  <a:schemeClr val="accent5"/>
                </a:solidFill>
              </a:rPr>
              <a:t>Limitations</a:t>
            </a:r>
            <a:endParaRPr lang="en-US" sz="1800" dirty="0"/>
          </a:p>
        </p:txBody>
      </p:sp>
      <p:sp>
        <p:nvSpPr>
          <p:cNvPr id="8" name="Text 6"/>
          <p:cNvSpPr txBox="1"/>
          <p:nvPr/>
        </p:nvSpPr>
        <p:spPr>
          <a:xfrm>
            <a:off x="4937760" y="169164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Uses only four toy examples</a:t>
            </a:r>
            <a:endParaRPr lang="en-US" sz="1500" dirty="0"/>
          </a:p>
          <a:p>
            <a:pPr marL="342900" indent="-342900">
              <a:spcAft>
                <a:spcPts val="600"/>
              </a:spcAft>
              <a:buSzPct val="100000"/>
              <a:buChar char="•"/>
            </a:pPr>
            <a:r>
              <a:rPr lang="en-US" sz="1500" dirty="0">
                <a:solidFill>
                  <a:schemeClr val="bg1"/>
                </a:solidFill>
              </a:rPr>
              <a:t>Made for learning and visualization</a:t>
            </a:r>
            <a:endParaRPr lang="en-US" sz="1500" dirty="0"/>
          </a:p>
          <a:p>
            <a:pPr marL="342900" indent="-342900">
              <a:spcAft>
                <a:spcPts val="600"/>
              </a:spcAft>
              <a:buSzPct val="100000"/>
              <a:buChar char="•"/>
            </a:pPr>
            <a:r>
              <a:rPr lang="en-US" sz="1500" dirty="0">
                <a:solidFill>
                  <a:schemeClr val="bg1"/>
                </a:solidFill>
              </a:rPr>
              <a:t>Not reliable for real-world prediction</a:t>
            </a:r>
            <a:endParaRPr lang="en-US" sz="1500" dirty="0"/>
          </a:p>
        </p:txBody>
      </p:sp>
      <p:sp>
        <p:nvSpPr>
          <p:cNvPr id="9" name="Takeaway card"/>
          <p:cNvSpPr/>
          <p:nvPr/>
        </p:nvSpPr>
        <p:spPr>
          <a:xfrm>
            <a:off x="457200" y="3520440"/>
            <a:ext cx="8229600" cy="1143000"/>
          </a:xfrm>
          <a:prstGeom prst="roundRect">
            <a:avLst>
              <a:gd name="adj" fmla="val 9600"/>
            </a:avLst>
          </a:prstGeom>
          <a:solidFill>
            <a:schemeClr val="tx2"/>
          </a:solidFill>
          <a:ln w="9525">
            <a:solidFill>
              <a:schemeClr val="accent1">
                <a:alpha val="45000"/>
              </a:schemeClr>
            </a:solidFill>
            <a:prstDash val="solid"/>
          </a:ln>
          <a:effectLst>
            <a:outerShdw sx="100000" sy="100000" kx="0" ky="0" algn="bl" rotWithShape="0" blurRad="177800" dist="50800" dir="16200000">
              <a:srgbClr val="22D3EE">
                <a:alpha val="45000"/>
              </a:srgbClr>
            </a:outerShdw>
          </a:effectLst>
        </p:spPr>
      </p:sp>
      <p:sp>
        <p:nvSpPr>
          <p:cNvPr id="10" name="Text 8"/>
          <p:cNvSpPr txBox="1"/>
          <p:nvPr/>
        </p:nvSpPr>
        <p:spPr>
          <a:xfrm>
            <a:off x="731520" y="3630168"/>
            <a:ext cx="27432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KEY TAKEAWAY</a:t>
            </a:r>
            <a:endParaRPr lang="en-US" sz="1200" dirty="0"/>
          </a:p>
        </p:txBody>
      </p:sp>
      <p:sp>
        <p:nvSpPr>
          <p:cNvPr id="11" name="Text 9"/>
          <p:cNvSpPr txBox="1"/>
          <p:nvPr/>
        </p:nvSpPr>
        <p:spPr>
          <a:xfrm>
            <a:off x="731520" y="3904488"/>
            <a:ext cx="7680960" cy="685800"/>
          </a:xfrm>
          <a:prstGeom prst="rect">
            <a:avLst/>
          </a:prstGeom>
          <a:noFill/>
          <a:ln/>
        </p:spPr>
        <p:txBody>
          <a:bodyPr wrap="square" lIns="0" tIns="0" rIns="0" bIns="0" rtlCol="0" anchor="t"/>
          <a:lstStyle/>
          <a:p>
            <a:pPr indent="0" marL="0">
              <a:buNone/>
            </a:pPr>
            <a:r>
              <a:rPr lang="en-US" sz="2000" b="1" dirty="0">
                <a:solidFill>
                  <a:schemeClr val="bg1"/>
                </a:solidFill>
              </a:rPr>
              <a:t>A neural network learns patterns from labeled examples by adjusting its weights to reduce error.</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I Lab Dark">
  <a:themeElements>
    <a:clrScheme name="AI Lab Dark">
      <a:dk1>
        <a:srgbClr val="0A1128"/>
      </a:dk1>
      <a:lt1>
        <a:srgbClr val="FFFFFF"/>
      </a:lt1>
      <a:dk2>
        <a:srgbClr val="12204A"/>
      </a:dk2>
      <a:lt2>
        <a:srgbClr val="B7C7E3"/>
      </a:lt2>
      <a:accent1>
        <a:srgbClr val="22D3EE"/>
      </a:accent1>
      <a:accent2>
        <a:srgbClr val="3B82F6"/>
      </a:accent2>
      <a:accent3>
        <a:srgbClr val="7DD3FC"/>
      </a:accent3>
      <a:accent4>
        <a:srgbClr val="38BDF8"/>
      </a:accent4>
      <a:accent5>
        <a:srgbClr val="FB923C"/>
      </a:accent5>
      <a:accent6>
        <a:srgbClr val="6B7FD7"/>
      </a:accent6>
      <a:hlink>
        <a:srgbClr val="22D3EE"/>
      </a:hlink>
      <a:folHlink>
        <a:srgbClr val="7DD3FC"/>
      </a:folHlink>
    </a:clrScheme>
    <a:fontScheme name="AI Lab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 Neural Network Learns to Classify</dc:title>
  <dc:subject>PptxGenJS Presentation</dc:subject>
  <dc:creator>PptxGenJS</dc:creator>
  <cp:lastModifiedBy>PptxGenJS</cp:lastModifiedBy>
  <cp:revision>1</cp:revision>
  <dcterms:created xsi:type="dcterms:W3CDTF">2026-10-06T11:25:37Z</dcterms:created>
  <dcterms:modified xsi:type="dcterms:W3CDTF">2026-10-06T11:25:37Z</dcterms:modified>
</cp:coreProperties>
</file>